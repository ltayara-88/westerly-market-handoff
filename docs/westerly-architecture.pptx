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df648976-79d7-d154-70bc-66a43a5ec457}">
          <p14:sldIdLst>
            <p14:sldId id="256"/>
            <p14:sldId id="257"/>
            <p14:sldId id="258"/>
          </p14:sldIdLst>
        </p14:section>
        <p14:section name="Demo" id="{3062e274-17fa-87f0-f72f-40cfab826da0}">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state (illustrative). The demo has no real ERP: Snowflake is seeded by a setup script, and the site's checkout only sends Web SDK events.
1. Website to ERP: when a shopper checks out, the commerce platform or site backend calls the ERP's sales order API, usually through an integration layer (MuleSoft, Boomi, or custom middleware with a message queue). It's real time because the ERP has to reserve stock, take payment and start picking right away.
2. ERP to website: stock levels and prices flow back to the site, on change or every few minutes, so the shop doesn't sell what's out of stock.
3. ERP to Snowflake: a scheduled ELT job (Fivetran, Matillion, Informatica, or the ERP vendor's own connector), often using change data capture, copies the ERP tables into Snowflake hourly or nightly. Why ELT and why batch: the ERP is a transactional system and isn't built for heavy reporting queries, so the data is copied out on a schedule to protect its performance, then transformed inside Snowflake where compute is cheap and scales. Snowflake becomes the one place for analytics across orders, inventory and products.
4. Service Cloud: cases live in Salesforce, but the order, inventory and website data don't. Reps swivel between Service Cloud and the ERP screen, and nobody sees what the shopper did on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state: Data 360 at the center of the shopper view; real-time operations stay on the ERP.
Sources (bottom): the ERP stays the system of record and streams every order and stock change to Snowflake (change data capture plus Snowpipe Streaming) within seconds, replacing the nightly ELT.
Data streams: Data 360 reads the Snowflake orders, order items, products and inventory tables in place (virtual, zero copy). Because Snowflake is now streamed, Data 360 is as current as the ERP. The site streams page views, cart and order events to Data 360 in real time, through the Web SDK in the browser or the Ingestion API (streaming) from the site backend and the agent. The Salesforce CRM connector brings Service Cloud cases and contacts into Data 360, so each shopper's cases join the unified profile.
Inside Data 360: the data maps to the Customer 360 data model, is unified into shopper profiles, and calculated insights such as Top Shopper are computed on them.
Consumers (top): Service Cloud shows the profile on the Case page (Westerly panel, Website Activity) and Agentforce Coworker grounds its answers on it. The site backend and the Google ADK agent read the same profile (likely the Data Graph API) for a signed-in shopper's orders, status and offers. To test: lookup speed over zero-copy data with acceleration off. Agent handoff: when the shopper asks for a person, the agent creates the Case directly in Service Cloud (Salesforce REST API, or Pub/Sub API with a Platform Event) so the shopper gets a case number right away. In the same step it sends a handoff event (reason, conversation summary, SKUs discussed) to Data 360 through the Web SDK or Ingestion API, so the rep and Coworker see why the shopper asked for help.
Data shares (right): Data 360 shares unified profiles, website engagement and insights back to Snowflake, zero copy, for Westerly's analysts.
Operational lane (left): checkout calls the ERP order API, which reserves stock, and the site gets live stock and order status from the ERP. This stays off Data 360: each page view would run a query and cost credits, and only the ERP can settle the last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previous diagram from the bottom up: sources (1-4), Data 360 (5), the people and agents who use the profile (6-7), analytics (8), and what stays on the ERP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flow, in eight stops. Maya and Jordan are stand-in names; use the demo contact's name when presenting.
1. The shopper signs in on the Heroku site; the Data 360 Web SDK streams page views, searches and cart adds.
2. The Google ADK agent (Westerly Shopper, Gemini) suggests a recipe, searches the catalog and adds the ingredients to the cart.
3. The order is placed. Data 360 unifies web activity with the Snowflake order history (zero copy) through identity resolution; the Westerly Shopper Metrics insight flags a Top Shopper.
4. The shopper asks the agent to add garam masala to the order. The agent confirms the signed-in shopper and the order, shows the case summary, waits for a yes, then creates a Case through the Salesforce API with the customer ID, order ID and conversation summary (no payment data). It also sends the handoff context to Data 360.
5. Case routing puts the case in the Westerly Support queue and assigns it to the rep in the Service - Console app.
6. The Westerly panel on the Case shows the agent's summary, the unified shopper profile, recent orders with the case's order highlighted, and Website Activity from the Web SDK.
7. The rep asks Agentforce Coworker whether the item can be added. Coworker reads the order status on the case (Not yet picked) and cites the Westerly knowledge article: items can be added until the order is picked.
8. The rep confirms with the shopper and closes the case; the CRM connector brings the case back into Data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548640" y="1005840"/>
            <a:ext cx="11064240" cy="41148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Westerly Market × Salesforce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Today: orders, analytics and service live apart</a:t>
            </a:r>
            <a:endParaRPr lang="en-US" sz="3600" dirty="0"/>
          </a:p>
        </p:txBody>
      </p:sp>
      <p:sp>
        <p:nvSpPr>
          <p:cNvPr id="3" name="Website"/>
          <p:cNvSpPr/>
          <p:nvPr/>
        </p:nvSpPr>
        <p:spPr>
          <a:xfrm>
            <a:off x="548640" y="1371600"/>
            <a:ext cx="2286000" cy="1783080"/>
          </a:xfrm>
          <a:prstGeom prst="roundRect">
            <a:avLst>
              <a:gd name="adj" fmla="val 4103"/>
            </a:avLst>
          </a:prstGeom>
          <a:solidFill>
            <a:schemeClr val="bg1"/>
          </a:solidFill>
          <a:ln w="12700">
            <a:solidFill>
              <a:schemeClr val="accent4"/>
            </a:solidFill>
            <a:prstDash val="solid"/>
          </a:ln>
        </p:spPr>
      </p:sp>
      <p:pic>
        <p:nvPicPr>
          <p:cNvPr id="4" name="Website icon" descr="Westerly website icon">    </p:cNvPr>
          <p:cNvPicPr>
            <a:picLocks noChangeAspect="1"/>
          </p:cNvPicPr>
          <p:nvPr/>
        </p:nvPicPr>
        <p:blipFill>
          <a:blip r:embed="rId1"/>
          <a:stretch>
            <a:fillRect/>
          </a:stretch>
        </p:blipFill>
        <p:spPr>
          <a:xfrm>
            <a:off x="731520" y="1554480"/>
            <a:ext cx="365760" cy="365760"/>
          </a:xfrm>
          <a:prstGeom prst="rect">
            <a:avLst/>
          </a:prstGeom>
        </p:spPr>
      </p:pic>
      <p:sp>
        <p:nvSpPr>
          <p:cNvPr id="5" name="Website title"/>
          <p:cNvSpPr txBox="1"/>
          <p:nvPr/>
        </p:nvSpPr>
        <p:spPr>
          <a:xfrm>
            <a:off x="1188720" y="1508760"/>
            <a:ext cx="1508760" cy="457200"/>
          </a:xfrm>
          <a:prstGeom prst="rect">
            <a:avLst/>
          </a:prstGeom>
          <a:noFill/>
          <a:ln/>
        </p:spPr>
        <p:txBody>
          <a:bodyPr wrap="square" lIns="0" tIns="0" rIns="0" bIns="0" rtlCol="0" anchor="ctr"/>
          <a:lstStyle/>
          <a:p>
            <a:pPr indent="0" marL="0">
              <a:buNone/>
            </a:pPr>
            <a:r>
              <a:rPr lang="en-US" sz="1600" b="1" dirty="0">
                <a:solidFill>
                  <a:schemeClr val="tx2"/>
                </a:solidFill>
              </a:rPr>
              <a:t>Westerly website</a:t>
            </a:r>
            <a:endParaRPr lang="en-US" sz="1600" dirty="0"/>
          </a:p>
        </p:txBody>
      </p:sp>
      <p:sp>
        <p:nvSpPr>
          <p:cNvPr id="6" name="Website details"/>
          <p:cNvSpPr txBox="1"/>
          <p:nvPr/>
        </p:nvSpPr>
        <p:spPr>
          <a:xfrm>
            <a:off x="731520" y="2057400"/>
            <a:ext cx="1965960"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Online shop and checkout</a:t>
            </a:r>
            <a:endParaRPr lang="en-US" sz="1200" dirty="0"/>
          </a:p>
          <a:p>
            <a:pPr marL="342900" indent="-342900">
              <a:spcAft>
                <a:spcPts val="300"/>
              </a:spcAft>
              <a:buSzPct val="100000"/>
              <a:buChar char="•"/>
            </a:pPr>
            <a:r>
              <a:rPr lang="en-US" sz="1200" dirty="0">
                <a:solidFill>
                  <a:schemeClr val="tx1"/>
                </a:solidFill>
              </a:rPr>
              <a:t>Shows prices and stock</a:t>
            </a:r>
            <a:endParaRPr lang="en-US" sz="1200" dirty="0"/>
          </a:p>
          <a:p>
            <a:pPr marL="342900" indent="-342900">
              <a:spcAft>
                <a:spcPts val="300"/>
              </a:spcAft>
              <a:buSzPct val="100000"/>
              <a:buChar char="•"/>
            </a:pPr>
            <a:r>
              <a:rPr lang="en-US" sz="1200" dirty="0">
                <a:solidFill>
                  <a:schemeClr val="tx1"/>
                </a:solidFill>
              </a:rPr>
              <a:t>No shopper history</a:t>
            </a:r>
            <a:endParaRPr lang="en-US" sz="1200" dirty="0"/>
          </a:p>
        </p:txBody>
      </p:sp>
      <p:sp>
        <p:nvSpPr>
          <p:cNvPr id="7" name="ERP"/>
          <p:cNvSpPr/>
          <p:nvPr/>
        </p:nvSpPr>
        <p:spPr>
          <a:xfrm>
            <a:off x="6400800" y="1371600"/>
            <a:ext cx="2286000" cy="1783080"/>
          </a:xfrm>
          <a:prstGeom prst="roundRect">
            <a:avLst>
              <a:gd name="adj" fmla="val 4103"/>
            </a:avLst>
          </a:prstGeom>
          <a:solidFill>
            <a:schemeClr val="bg1"/>
          </a:solidFill>
          <a:ln w="12700">
            <a:solidFill>
              <a:schemeClr val="accent4"/>
            </a:solidFill>
            <a:prstDash val="solid"/>
          </a:ln>
        </p:spPr>
      </p:sp>
      <p:pic>
        <p:nvPicPr>
          <p:cNvPr id="8" name="ERP icon" descr="ERP icon">    </p:cNvPr>
          <p:cNvPicPr>
            <a:picLocks noChangeAspect="1"/>
          </p:cNvPicPr>
          <p:nvPr/>
        </p:nvPicPr>
        <p:blipFill>
          <a:blip r:embed="rId2"/>
          <a:stretch>
            <a:fillRect/>
          </a:stretch>
        </p:blipFill>
        <p:spPr>
          <a:xfrm>
            <a:off x="6583680" y="1554480"/>
            <a:ext cx="365760" cy="365760"/>
          </a:xfrm>
          <a:prstGeom prst="rect">
            <a:avLst/>
          </a:prstGeom>
        </p:spPr>
      </p:pic>
      <p:sp>
        <p:nvSpPr>
          <p:cNvPr id="9" name="ERP title"/>
          <p:cNvSpPr txBox="1"/>
          <p:nvPr/>
        </p:nvSpPr>
        <p:spPr>
          <a:xfrm>
            <a:off x="7040880" y="1508760"/>
            <a:ext cx="1508760" cy="457200"/>
          </a:xfrm>
          <a:prstGeom prst="rect">
            <a:avLst/>
          </a:prstGeom>
          <a:noFill/>
          <a:ln/>
        </p:spPr>
        <p:txBody>
          <a:bodyPr wrap="square" lIns="0" tIns="0" rIns="0" bIns="0" rtlCol="0" anchor="ctr"/>
          <a:lstStyle/>
          <a:p>
            <a:pPr indent="0" marL="0">
              <a:buNone/>
            </a:pPr>
            <a:r>
              <a:rPr lang="en-US" sz="1600" b="1" dirty="0">
                <a:solidFill>
                  <a:schemeClr val="tx2"/>
                </a:solidFill>
              </a:rPr>
              <a:t>ERP</a:t>
            </a:r>
            <a:endParaRPr lang="en-US" sz="1600" dirty="0"/>
          </a:p>
        </p:txBody>
      </p:sp>
      <p:sp>
        <p:nvSpPr>
          <p:cNvPr id="10" name="ERP details"/>
          <p:cNvSpPr txBox="1"/>
          <p:nvPr/>
        </p:nvSpPr>
        <p:spPr>
          <a:xfrm>
            <a:off x="6583680" y="2057400"/>
            <a:ext cx="1965960"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System of record</a:t>
            </a:r>
            <a:endParaRPr lang="en-US" sz="1200" dirty="0"/>
          </a:p>
          <a:p>
            <a:pPr marL="342900" indent="-342900">
              <a:spcAft>
                <a:spcPts val="300"/>
              </a:spcAft>
              <a:buSzPct val="100000"/>
              <a:buChar char="•"/>
            </a:pPr>
            <a:r>
              <a:rPr lang="en-US" sz="1200" dirty="0">
                <a:solidFill>
                  <a:schemeClr val="tx1"/>
                </a:solidFill>
              </a:rPr>
              <a:t>Orders and fulfillment</a:t>
            </a:r>
            <a:endParaRPr lang="en-US" sz="1200" dirty="0"/>
          </a:p>
          <a:p>
            <a:pPr marL="342900" indent="-342900">
              <a:spcAft>
                <a:spcPts val="300"/>
              </a:spcAft>
              <a:buSzPct val="100000"/>
              <a:buChar char="•"/>
            </a:pPr>
            <a:r>
              <a:rPr lang="en-US" sz="1200" dirty="0">
                <a:solidFill>
                  <a:schemeClr val="tx1"/>
                </a:solidFill>
              </a:rPr>
              <a:t>Products, prices, inventory</a:t>
            </a:r>
            <a:endParaRPr lang="en-US" sz="1200" dirty="0"/>
          </a:p>
        </p:txBody>
      </p:sp>
      <p:sp>
        <p:nvSpPr>
          <p:cNvPr id="11" name="Snowflake"/>
          <p:cNvSpPr/>
          <p:nvPr/>
        </p:nvSpPr>
        <p:spPr>
          <a:xfrm>
            <a:off x="9372600" y="1371600"/>
            <a:ext cx="2240280" cy="1783080"/>
          </a:xfrm>
          <a:prstGeom prst="roundRect">
            <a:avLst>
              <a:gd name="adj" fmla="val 4103"/>
            </a:avLst>
          </a:prstGeom>
          <a:solidFill>
            <a:schemeClr val="bg1"/>
          </a:solidFill>
          <a:ln w="12700">
            <a:solidFill>
              <a:schemeClr val="accent4"/>
            </a:solidFill>
            <a:prstDash val="solid"/>
          </a:ln>
        </p:spPr>
      </p:sp>
      <p:pic>
        <p:nvPicPr>
          <p:cNvPr id="12" name="Snowflake icon" descr="Snowflake icon">    </p:cNvPr>
          <p:cNvPicPr>
            <a:picLocks noChangeAspect="1"/>
          </p:cNvPicPr>
          <p:nvPr/>
        </p:nvPicPr>
        <p:blipFill>
          <a:blip r:embed="rId3"/>
          <a:stretch>
            <a:fillRect/>
          </a:stretch>
        </p:blipFill>
        <p:spPr>
          <a:xfrm>
            <a:off x="9555480" y="1554480"/>
            <a:ext cx="365760" cy="365760"/>
          </a:xfrm>
          <a:prstGeom prst="rect">
            <a:avLst/>
          </a:prstGeom>
        </p:spPr>
      </p:pic>
      <p:sp>
        <p:nvSpPr>
          <p:cNvPr id="13" name="Snowflake title"/>
          <p:cNvSpPr txBox="1"/>
          <p:nvPr/>
        </p:nvSpPr>
        <p:spPr>
          <a:xfrm>
            <a:off x="10012680" y="1508760"/>
            <a:ext cx="1463040" cy="457200"/>
          </a:xfrm>
          <a:prstGeom prst="rect">
            <a:avLst/>
          </a:prstGeom>
          <a:noFill/>
          <a:ln/>
        </p:spPr>
        <p:txBody>
          <a:bodyPr wrap="square" lIns="0" tIns="0" rIns="0" bIns="0" rtlCol="0" anchor="ctr"/>
          <a:lstStyle/>
          <a:p>
            <a:pPr indent="0" marL="0">
              <a:buNone/>
            </a:pPr>
            <a:r>
              <a:rPr lang="en-US" sz="1600" b="1" dirty="0">
                <a:solidFill>
                  <a:schemeClr val="tx2"/>
                </a:solidFill>
              </a:rPr>
              <a:t>Snowflake</a:t>
            </a:r>
            <a:endParaRPr lang="en-US" sz="1600" dirty="0"/>
          </a:p>
        </p:txBody>
      </p:sp>
      <p:sp>
        <p:nvSpPr>
          <p:cNvPr id="14" name="Snowflake details"/>
          <p:cNvSpPr txBox="1"/>
          <p:nvPr/>
        </p:nvSpPr>
        <p:spPr>
          <a:xfrm>
            <a:off x="9555480" y="2057400"/>
            <a:ext cx="1920240"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Analytics warehouse</a:t>
            </a:r>
            <a:endParaRPr lang="en-US" sz="1200" dirty="0"/>
          </a:p>
          <a:p>
            <a:pPr marL="342900" indent="-342900">
              <a:spcAft>
                <a:spcPts val="300"/>
              </a:spcAft>
              <a:buSzPct val="100000"/>
              <a:buChar char="•"/>
            </a:pPr>
            <a:r>
              <a:rPr lang="en-US" sz="1200" dirty="0">
                <a:solidFill>
                  <a:schemeClr val="tx1"/>
                </a:solidFill>
              </a:rPr>
              <a:t>Copy of ERP data</a:t>
            </a:r>
            <a:endParaRPr lang="en-US" sz="1200" dirty="0"/>
          </a:p>
          <a:p>
            <a:pPr marL="342900" indent="-342900">
              <a:spcAft>
                <a:spcPts val="300"/>
              </a:spcAft>
              <a:buSzPct val="100000"/>
              <a:buChar char="•"/>
            </a:pPr>
            <a:r>
              <a:rPr lang="en-US" sz="1200" dirty="0">
                <a:solidFill>
                  <a:schemeClr val="tx1"/>
                </a:solidFill>
              </a:rPr>
              <a:t>BI reports, forecasts</a:t>
            </a:r>
            <a:endParaRPr lang="en-US" sz="1200" dirty="0"/>
          </a:p>
        </p:txBody>
      </p:sp>
      <p:sp>
        <p:nvSpPr>
          <p:cNvPr id="15" name="site to ERP"/>
          <p:cNvSpPr/>
          <p:nvPr/>
        </p:nvSpPr>
        <p:spPr>
          <a:xfrm>
            <a:off x="2834640" y="2034540"/>
            <a:ext cx="3566160" cy="0"/>
          </a:xfrm>
          <a:prstGeom prst="line">
            <a:avLst/>
          </a:prstGeom>
          <a:noFill/>
          <a:ln w="22225">
            <a:solidFill>
              <a:schemeClr val="accent1"/>
            </a:solidFill>
            <a:prstDash val="solid"/>
            <a:tailEnd type="triangle"/>
          </a:ln>
        </p:spPr>
      </p:sp>
      <p:sp>
        <p:nvSpPr>
          <p:cNvPr id="16" name="ERP to site"/>
          <p:cNvSpPr/>
          <p:nvPr/>
        </p:nvSpPr>
        <p:spPr>
          <a:xfrm flipH="1">
            <a:off x="2834640" y="2491740"/>
            <a:ext cx="3566160" cy="0"/>
          </a:xfrm>
          <a:prstGeom prst="line">
            <a:avLst/>
          </a:prstGeom>
          <a:noFill/>
          <a:ln w="22225">
            <a:solidFill>
              <a:schemeClr val="accent1"/>
            </a:solidFill>
            <a:prstDash val="solid"/>
            <a:tailEnd type="triangle"/>
          </a:ln>
        </p:spPr>
      </p:sp>
      <p:sp>
        <p:nvSpPr>
          <p:cNvPr id="17" name="Integration label"/>
          <p:cNvSpPr txBox="1"/>
          <p:nvPr/>
        </p:nvSpPr>
        <p:spPr>
          <a:xfrm>
            <a:off x="2834640" y="2080260"/>
            <a:ext cx="3566160" cy="365760"/>
          </a:xfrm>
          <a:prstGeom prst="rect">
            <a:avLst/>
          </a:prstGeom>
          <a:noFill/>
          <a:ln/>
        </p:spPr>
        <p:txBody>
          <a:bodyPr wrap="square" lIns="0" tIns="0" rIns="0" bIns="0" rtlCol="0" anchor="ctr"/>
          <a:lstStyle/>
          <a:p>
            <a:pPr algn="ctr" indent="0" marL="0">
              <a:buNone/>
            </a:pPr>
            <a:r>
              <a:rPr lang="en-US" sz="1100" b="1" dirty="0">
                <a:solidFill>
                  <a:schemeClr val="tx2"/>
                </a:solidFill>
              </a:rPr>
              <a:t>Integration layer</a:t>
            </a:r>
            <a:endParaRPr lang="en-US" sz="1100" dirty="0"/>
          </a:p>
        </p:txBody>
      </p:sp>
      <p:sp>
        <p:nvSpPr>
          <p:cNvPr id="18" name="orders label"/>
          <p:cNvSpPr txBox="1"/>
          <p:nvPr/>
        </p:nvSpPr>
        <p:spPr>
          <a:xfrm>
            <a:off x="2834640" y="1696212"/>
            <a:ext cx="3566160" cy="274320"/>
          </a:xfrm>
          <a:prstGeom prst="rect">
            <a:avLst/>
          </a:prstGeom>
          <a:noFill/>
          <a:ln/>
        </p:spPr>
        <p:txBody>
          <a:bodyPr wrap="square" lIns="0" tIns="0" rIns="0" bIns="0" rtlCol="0" anchor="ctr"/>
          <a:lstStyle/>
          <a:p>
            <a:pPr algn="ctr" indent="0" marL="0">
              <a:buNone/>
            </a:pPr>
            <a:r>
              <a:rPr lang="en-US" sz="1100" i="1" dirty="0">
                <a:solidFill>
                  <a:schemeClr val="accent4"/>
                </a:solidFill>
              </a:rPr>
              <a:t>Orders</a:t>
            </a:r>
            <a:endParaRPr lang="en-US" sz="1100" dirty="0"/>
          </a:p>
        </p:txBody>
      </p:sp>
      <p:sp>
        <p:nvSpPr>
          <p:cNvPr id="19" name="stock label"/>
          <p:cNvSpPr txBox="1"/>
          <p:nvPr/>
        </p:nvSpPr>
        <p:spPr>
          <a:xfrm>
            <a:off x="2834640" y="2555748"/>
            <a:ext cx="3566160" cy="274320"/>
          </a:xfrm>
          <a:prstGeom prst="rect">
            <a:avLst/>
          </a:prstGeom>
          <a:noFill/>
          <a:ln/>
        </p:spPr>
        <p:txBody>
          <a:bodyPr wrap="square" lIns="0" tIns="0" rIns="0" bIns="0" rtlCol="0" anchor="ctr"/>
          <a:lstStyle/>
          <a:p>
            <a:pPr algn="ctr" indent="0" marL="0">
              <a:buNone/>
            </a:pPr>
            <a:r>
              <a:rPr lang="en-US" sz="1100" i="1" dirty="0">
                <a:solidFill>
                  <a:schemeClr val="accent4"/>
                </a:solidFill>
              </a:rPr>
              <a:t>Stock and prices</a:t>
            </a:r>
            <a:endParaRPr lang="en-US" sz="1100" dirty="0"/>
          </a:p>
        </p:txBody>
      </p:sp>
      <p:sp>
        <p:nvSpPr>
          <p:cNvPr id="20" name="Integration tools label"/>
          <p:cNvSpPr txBox="1"/>
          <p:nvPr/>
        </p:nvSpPr>
        <p:spPr>
          <a:xfrm>
            <a:off x="2834640" y="2857500"/>
            <a:ext cx="3566160" cy="274320"/>
          </a:xfrm>
          <a:prstGeom prst="rect">
            <a:avLst/>
          </a:prstGeom>
          <a:noFill/>
          <a:ln/>
        </p:spPr>
        <p:txBody>
          <a:bodyPr wrap="square" lIns="0" tIns="0" rIns="0" bIns="0" rtlCol="0" anchor="ctr"/>
          <a:lstStyle/>
          <a:p>
            <a:pPr algn="ctr" indent="0" marL="0">
              <a:buNone/>
            </a:pPr>
            <a:r>
              <a:rPr lang="en-US" sz="1100" i="1" dirty="0">
                <a:solidFill>
                  <a:schemeClr val="accent4"/>
                </a:solidFill>
              </a:rPr>
              <a:t>iPaaS or custom APIs, e.g. MuleSoft, Boomi</a:t>
            </a:r>
            <a:endParaRPr lang="en-US" sz="1100" dirty="0"/>
          </a:p>
        </p:txBody>
      </p:sp>
      <p:sp>
        <p:nvSpPr>
          <p:cNvPr id="21" name="ERP to Snowflake"/>
          <p:cNvSpPr/>
          <p:nvPr/>
        </p:nvSpPr>
        <p:spPr>
          <a:xfrm>
            <a:off x="8686800" y="2263140"/>
            <a:ext cx="685800" cy="0"/>
          </a:xfrm>
          <a:prstGeom prst="line">
            <a:avLst/>
          </a:prstGeom>
          <a:noFill/>
          <a:ln w="22225">
            <a:solidFill>
              <a:schemeClr val="accent4"/>
            </a:solidFill>
            <a:prstDash val="dash"/>
            <a:tailEnd type="triangle"/>
          </a:ln>
        </p:spPr>
      </p:sp>
      <p:sp>
        <p:nvSpPr>
          <p:cNvPr id="22" name="step 1"/>
          <p:cNvSpPr/>
          <p:nvPr/>
        </p:nvSpPr>
        <p:spPr>
          <a:xfrm>
            <a:off x="3017520" y="1623060"/>
            <a:ext cx="329184" cy="329184"/>
          </a:xfrm>
          <a:prstGeom prst="ellipse">
            <a:avLst/>
          </a:prstGeom>
          <a:solidFill>
            <a:schemeClr val="accent1"/>
          </a:solidFill>
          <a:ln w="19050">
            <a:solidFill>
              <a:schemeClr val="bg1"/>
            </a:solidFill>
            <a:prstDash val="solid"/>
          </a:ln>
        </p:spPr>
      </p:sp>
      <p:sp>
        <p:nvSpPr>
          <p:cNvPr id="23" name="step 1 number"/>
          <p:cNvSpPr txBox="1"/>
          <p:nvPr/>
        </p:nvSpPr>
        <p:spPr>
          <a:xfrm>
            <a:off x="3017520" y="16230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4" name="step 2"/>
          <p:cNvSpPr/>
          <p:nvPr/>
        </p:nvSpPr>
        <p:spPr>
          <a:xfrm>
            <a:off x="5897880" y="2583180"/>
            <a:ext cx="329184" cy="329184"/>
          </a:xfrm>
          <a:prstGeom prst="ellipse">
            <a:avLst/>
          </a:prstGeom>
          <a:solidFill>
            <a:schemeClr val="accent1"/>
          </a:solidFill>
          <a:ln w="19050">
            <a:solidFill>
              <a:schemeClr val="bg1"/>
            </a:solidFill>
            <a:prstDash val="solid"/>
          </a:ln>
        </p:spPr>
      </p:sp>
      <p:sp>
        <p:nvSpPr>
          <p:cNvPr id="25" name="step 2 number"/>
          <p:cNvSpPr txBox="1"/>
          <p:nvPr/>
        </p:nvSpPr>
        <p:spPr>
          <a:xfrm>
            <a:off x="5897880" y="25831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6" name="step 3"/>
          <p:cNvSpPr/>
          <p:nvPr/>
        </p:nvSpPr>
        <p:spPr>
          <a:xfrm>
            <a:off x="8869680" y="1805940"/>
            <a:ext cx="329184" cy="329184"/>
          </a:xfrm>
          <a:prstGeom prst="ellipse">
            <a:avLst/>
          </a:prstGeom>
          <a:solidFill>
            <a:schemeClr val="accent4"/>
          </a:solidFill>
          <a:ln w="19050">
            <a:solidFill>
              <a:schemeClr val="bg1"/>
            </a:solidFill>
            <a:prstDash val="solid"/>
          </a:ln>
        </p:spPr>
      </p:sp>
      <p:sp>
        <p:nvSpPr>
          <p:cNvPr id="27" name="step 3 number"/>
          <p:cNvSpPr txBox="1"/>
          <p:nvPr/>
        </p:nvSpPr>
        <p:spPr>
          <a:xfrm>
            <a:off x="8869680" y="18059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8" name="Service Cloud"/>
          <p:cNvSpPr/>
          <p:nvPr/>
        </p:nvSpPr>
        <p:spPr>
          <a:xfrm>
            <a:off x="6400800" y="3749040"/>
            <a:ext cx="5212080" cy="1783080"/>
          </a:xfrm>
          <a:prstGeom prst="roundRect">
            <a:avLst>
              <a:gd name="adj" fmla="val 4103"/>
            </a:avLst>
          </a:prstGeom>
          <a:solidFill>
            <a:schemeClr val="bg1"/>
          </a:solidFill>
          <a:ln w="12700">
            <a:solidFill>
              <a:schemeClr val="accent4"/>
            </a:solidFill>
            <a:prstDash val="solid"/>
          </a:ln>
        </p:spPr>
      </p:sp>
      <p:pic>
        <p:nvPicPr>
          <p:cNvPr id="29" name="Service Cloud icon" descr="Salesforce Service Cloud icon">    </p:cNvPr>
          <p:cNvPicPr>
            <a:picLocks noChangeAspect="1"/>
          </p:cNvPicPr>
          <p:nvPr/>
        </p:nvPicPr>
        <p:blipFill>
          <a:blip r:embed="rId4"/>
          <a:stretch>
            <a:fillRect/>
          </a:stretch>
        </p:blipFill>
        <p:spPr>
          <a:xfrm>
            <a:off x="6583680" y="3931920"/>
            <a:ext cx="365760" cy="365760"/>
          </a:xfrm>
          <a:prstGeom prst="rect">
            <a:avLst/>
          </a:prstGeom>
        </p:spPr>
      </p:pic>
      <p:sp>
        <p:nvSpPr>
          <p:cNvPr id="30" name="Service Cloud title"/>
          <p:cNvSpPr txBox="1"/>
          <p:nvPr/>
        </p:nvSpPr>
        <p:spPr>
          <a:xfrm>
            <a:off x="7040880" y="3886200"/>
            <a:ext cx="4434840" cy="457200"/>
          </a:xfrm>
          <a:prstGeom prst="rect">
            <a:avLst/>
          </a:prstGeom>
          <a:noFill/>
          <a:ln/>
        </p:spPr>
        <p:txBody>
          <a:bodyPr wrap="square" lIns="0" tIns="0" rIns="0" bIns="0" rtlCol="0" anchor="ctr"/>
          <a:lstStyle/>
          <a:p>
            <a:pPr indent="0" marL="0">
              <a:buNone/>
            </a:pPr>
            <a:r>
              <a:rPr lang="en-US" sz="1600" b="1" dirty="0">
                <a:solidFill>
                  <a:schemeClr val="accent2"/>
                </a:solidFill>
              </a:rPr>
              <a:t>Salesforce Service Cloud</a:t>
            </a:r>
            <a:endParaRPr lang="en-US" sz="1600" dirty="0"/>
          </a:p>
        </p:txBody>
      </p:sp>
      <p:sp>
        <p:nvSpPr>
          <p:cNvPr id="31" name="Service Cloud details"/>
          <p:cNvSpPr txBox="1"/>
          <p:nvPr/>
        </p:nvSpPr>
        <p:spPr>
          <a:xfrm>
            <a:off x="6583680" y="4434840"/>
            <a:ext cx="4892040"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Cases and contacts for support reps</a:t>
            </a:r>
            <a:endParaRPr lang="en-US" sz="1200" dirty="0"/>
          </a:p>
          <a:p>
            <a:pPr marL="342900" indent="-342900">
              <a:spcAft>
                <a:spcPts val="300"/>
              </a:spcAft>
              <a:buSzPct val="100000"/>
              <a:buChar char="•"/>
            </a:pPr>
            <a:r>
              <a:rPr lang="en-US" sz="1200" dirty="0">
                <a:solidFill>
                  <a:schemeClr val="tx1"/>
                </a:solidFill>
              </a:rPr>
              <a:t>No order, inventory or website data inside</a:t>
            </a:r>
            <a:endParaRPr lang="en-US" sz="1200" dirty="0"/>
          </a:p>
          <a:p>
            <a:pPr marL="342900" indent="-342900">
              <a:spcAft>
                <a:spcPts val="300"/>
              </a:spcAft>
              <a:buSzPct val="100000"/>
              <a:buChar char="•"/>
            </a:pPr>
            <a:r>
              <a:rPr lang="en-US" sz="1200" dirty="0">
                <a:solidFill>
                  <a:schemeClr val="tx1"/>
                </a:solidFill>
              </a:rPr>
              <a:t>Reps switch to the ERP screen to answer "where's my order?"</a:t>
            </a:r>
            <a:endParaRPr lang="en-US" sz="1200" dirty="0"/>
          </a:p>
        </p:txBody>
      </p:sp>
      <p:sp>
        <p:nvSpPr>
          <p:cNvPr id="32" name="rep lookup in ERP"/>
          <p:cNvSpPr/>
          <p:nvPr/>
        </p:nvSpPr>
        <p:spPr>
          <a:xfrm flipV="1">
            <a:off x="7543800" y="3154680"/>
            <a:ext cx="0" cy="594360"/>
          </a:xfrm>
          <a:prstGeom prst="line">
            <a:avLst/>
          </a:prstGeom>
          <a:noFill/>
          <a:ln w="22225">
            <a:solidFill>
              <a:schemeClr val="accent3"/>
            </a:solidFill>
            <a:prstDash val="dash"/>
            <a:headEnd type="triangle"/>
            <a:tailEnd type="triangle"/>
          </a:ln>
        </p:spPr>
      </p:sp>
      <p:sp>
        <p:nvSpPr>
          <p:cNvPr id="33" name="step 4"/>
          <p:cNvSpPr/>
          <p:nvPr/>
        </p:nvSpPr>
        <p:spPr>
          <a:xfrm>
            <a:off x="7726680" y="3246120"/>
            <a:ext cx="329184" cy="329184"/>
          </a:xfrm>
          <a:prstGeom prst="ellipse">
            <a:avLst/>
          </a:prstGeom>
          <a:solidFill>
            <a:schemeClr val="accent3"/>
          </a:solidFill>
          <a:ln w="19050">
            <a:solidFill>
              <a:schemeClr val="bg1"/>
            </a:solidFill>
            <a:prstDash val="solid"/>
          </a:ln>
        </p:spPr>
      </p:sp>
      <p:sp>
        <p:nvSpPr>
          <p:cNvPr id="34" name="step 4 number"/>
          <p:cNvSpPr txBox="1"/>
          <p:nvPr/>
        </p:nvSpPr>
        <p:spPr>
          <a:xfrm>
            <a:off x="7726680" y="324612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5" name="How data moves today"/>
          <p:cNvSpPr txBox="1"/>
          <p:nvPr/>
        </p:nvSpPr>
        <p:spPr>
          <a:xfrm>
            <a:off x="548640" y="3749040"/>
            <a:ext cx="5440680" cy="1783080"/>
          </a:xfrm>
          <a:prstGeom prst="rect">
            <a:avLst/>
          </a:prstGeom>
          <a:noFill/>
          <a:ln/>
        </p:spPr>
        <p:txBody>
          <a:bodyPr wrap="square" lIns="0" tIns="0" rIns="0" bIns="0" rtlCol="0" anchor="t"/>
          <a:lstStyle/>
          <a:p>
            <a:pPr indent="0" marL="0">
              <a:spcAft>
                <a:spcPts val="600"/>
              </a:spcAft>
              <a:buNone/>
            </a:pPr>
            <a:r>
              <a:rPr lang="en-US" sz="1200" b="1" dirty="0">
                <a:solidFill>
                  <a:schemeClr val="accent1"/>
                </a:solidFill>
              </a:rPr>
              <a:t>1  </a:t>
            </a:r>
            <a:pPr indent="0" marL="0">
              <a:spcAft>
                <a:spcPts val="600"/>
              </a:spcAft>
              <a:buNone/>
            </a:pPr>
            <a:r>
              <a:rPr lang="en-US" sz="1200" dirty="0">
                <a:solidFill>
                  <a:schemeClr val="tx1"/>
                </a:solidFill>
              </a:rPr>
              <a:t>Checkout sends the order to the ERP in real time through the integration layer (order API or message queue).</a:t>
            </a:r>
            <a:endParaRPr lang="en-US" sz="1200" dirty="0"/>
          </a:p>
          <a:p>
            <a:pPr indent="0" marL="0">
              <a:spcAft>
                <a:spcPts val="600"/>
              </a:spcAft>
              <a:buNone/>
            </a:pPr>
            <a:r>
              <a:rPr lang="en-US" sz="1200" b="1" dirty="0">
                <a:solidFill>
                  <a:schemeClr val="accent1"/>
                </a:solidFill>
              </a:rPr>
              <a:t>2  </a:t>
            </a:r>
            <a:pPr indent="0" marL="0">
              <a:spcAft>
                <a:spcPts val="600"/>
              </a:spcAft>
              <a:buNone/>
            </a:pPr>
            <a:r>
              <a:rPr lang="en-US" sz="1200" dirty="0">
                <a:solidFill>
                  <a:schemeClr val="tx1"/>
                </a:solidFill>
              </a:rPr>
              <a:t>The ERP sends stock and prices back to the site, every few minutes or on change.</a:t>
            </a:r>
            <a:endParaRPr lang="en-US" sz="1200" dirty="0"/>
          </a:p>
          <a:p>
            <a:pPr indent="0" marL="0">
              <a:spcAft>
                <a:spcPts val="600"/>
              </a:spcAft>
              <a:buNone/>
            </a:pPr>
            <a:r>
              <a:rPr lang="en-US" sz="1200" b="1" dirty="0">
                <a:solidFill>
                  <a:schemeClr val="accent4"/>
                </a:solidFill>
              </a:rPr>
              <a:t>3  </a:t>
            </a:r>
            <a:pPr indent="0" marL="0">
              <a:spcAft>
                <a:spcPts val="600"/>
              </a:spcAft>
              <a:buNone/>
            </a:pPr>
            <a:r>
              <a:rPr lang="en-US" sz="1200" dirty="0">
                <a:solidFill>
                  <a:schemeClr val="tx1"/>
                </a:solidFill>
              </a:rPr>
              <a:t>A scheduled ELT tool (e.g. Fivetran, Matillion, Informatica) copies ERP tables into Snowflake hourly or nightly.</a:t>
            </a:r>
            <a:endParaRPr lang="en-US" sz="1200" dirty="0"/>
          </a:p>
          <a:p>
            <a:pPr indent="0" marL="0">
              <a:spcAft>
                <a:spcPts val="600"/>
              </a:spcAft>
              <a:buNone/>
            </a:pPr>
            <a:r>
              <a:rPr lang="en-US" sz="1200" b="1" dirty="0">
                <a:solidFill>
                  <a:schemeClr val="accent3"/>
                </a:solidFill>
              </a:rPr>
              <a:t>4  </a:t>
            </a:r>
            <a:pPr indent="0" marL="0">
              <a:spcAft>
                <a:spcPts val="600"/>
              </a:spcAft>
              <a:buNone/>
            </a:pPr>
            <a:r>
              <a:rPr lang="en-US" sz="1200" dirty="0">
                <a:solidFill>
                  <a:schemeClr val="tx1"/>
                </a:solidFill>
              </a:rPr>
              <a:t>Reps look up orders in the ERP by hand. Service Cloud has no link to Snowflake or the website.</a:t>
            </a:r>
            <a:endParaRPr lang="en-US" sz="1200" dirty="0"/>
          </a:p>
        </p:txBody>
      </p:sp>
      <p:sp>
        <p:nvSpPr>
          <p:cNvPr id="37"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Unified Customer View at the heart of D360</a:t>
            </a:r>
            <a:endParaRPr lang="en-US" sz="3600" dirty="0"/>
          </a:p>
        </p:txBody>
      </p:sp>
      <p:sp>
        <p:nvSpPr>
          <p:cNvPr id="3" name="Salesforce org label"/>
          <p:cNvSpPr/>
          <p:nvPr/>
        </p:nvSpPr>
        <p:spPr>
          <a:xfrm>
            <a:off x="3657600" y="960120"/>
            <a:ext cx="4937760" cy="256032"/>
          </a:xfrm>
          <a:prstGeom prst="rect">
            <a:avLst/>
          </a:prstGeom>
          <a:solidFill>
            <a:schemeClr val="accent1"/>
          </a:solidFill>
          <a:ln w="12700">
            <a:solidFill>
              <a:schemeClr val="accent1"/>
            </a:solidFill>
            <a:prstDash val="solid"/>
          </a:ln>
        </p:spPr>
      </p:sp>
      <p:sp>
        <p:nvSpPr>
          <p:cNvPr id="4" name="Salesforce org label text"/>
          <p:cNvSpPr txBox="1"/>
          <p:nvPr/>
        </p:nvSpPr>
        <p:spPr>
          <a:xfrm>
            <a:off x="3657600" y="960120"/>
            <a:ext cx="4937760" cy="256032"/>
          </a:xfrm>
          <a:prstGeom prst="rect">
            <a:avLst/>
          </a:prstGeom>
          <a:noFill/>
          <a:ln/>
        </p:spPr>
        <p:txBody>
          <a:bodyPr wrap="square" lIns="0" tIns="0" rIns="0" bIns="0" rtlCol="0" anchor="ctr"/>
          <a:lstStyle/>
          <a:p>
            <a:pPr algn="ctr" indent="0" marL="0">
              <a:buNone/>
            </a:pPr>
            <a:r>
              <a:rPr lang="en-US" sz="1300" b="1" dirty="0">
                <a:solidFill>
                  <a:schemeClr val="bg1"/>
                </a:solidFill>
              </a:rPr>
              <a:t>Westerly Salesforce org</a:t>
            </a:r>
            <a:endParaRPr lang="en-US" sz="1300" dirty="0"/>
          </a:p>
        </p:txBody>
      </p:sp>
      <p:sp>
        <p:nvSpPr>
          <p:cNvPr id="5" name="Service Cloud"/>
          <p:cNvSpPr/>
          <p:nvPr/>
        </p:nvSpPr>
        <p:spPr>
          <a:xfrm>
            <a:off x="3657600" y="1216152"/>
            <a:ext cx="4937760" cy="978408"/>
          </a:xfrm>
          <a:prstGeom prst="roundRect">
            <a:avLst>
              <a:gd name="adj" fmla="val 5607"/>
            </a:avLst>
          </a:prstGeom>
          <a:solidFill>
            <a:schemeClr val="bg1"/>
          </a:solidFill>
          <a:ln w="12700">
            <a:solidFill>
              <a:schemeClr val="accent4"/>
            </a:solidFill>
            <a:prstDash val="solid"/>
          </a:ln>
        </p:spPr>
      </p:sp>
      <p:pic>
        <p:nvPicPr>
          <p:cNvPr id="6" name="Service Cloud icon" descr="Salesforce cloud icon">    </p:cNvPr>
          <p:cNvPicPr>
            <a:picLocks noChangeAspect="1"/>
          </p:cNvPicPr>
          <p:nvPr/>
        </p:nvPicPr>
        <p:blipFill>
          <a:blip r:embed="rId1"/>
          <a:stretch>
            <a:fillRect/>
          </a:stretch>
        </p:blipFill>
        <p:spPr>
          <a:xfrm>
            <a:off x="3767328" y="1280160"/>
            <a:ext cx="274320" cy="274320"/>
          </a:xfrm>
          <a:prstGeom prst="rect">
            <a:avLst/>
          </a:prstGeom>
        </p:spPr>
      </p:pic>
      <p:sp>
        <p:nvSpPr>
          <p:cNvPr id="7" name="Service Cloud title"/>
          <p:cNvSpPr txBox="1"/>
          <p:nvPr/>
        </p:nvSpPr>
        <p:spPr>
          <a:xfrm>
            <a:off x="4114800" y="1261872"/>
            <a:ext cx="4297680" cy="320040"/>
          </a:xfrm>
          <a:prstGeom prst="rect">
            <a:avLst/>
          </a:prstGeom>
          <a:noFill/>
          <a:ln/>
        </p:spPr>
        <p:txBody>
          <a:bodyPr wrap="square" lIns="0" tIns="0" rIns="0" bIns="0" rtlCol="0" anchor="ctr"/>
          <a:lstStyle/>
          <a:p>
            <a:pPr indent="0" marL="0">
              <a:buNone/>
            </a:pPr>
            <a:r>
              <a:rPr lang="en-US" sz="1400" b="1" dirty="0">
                <a:solidFill>
                  <a:schemeClr val="accent2"/>
                </a:solidFill>
              </a:rPr>
              <a:t>Service Cloud + Agentforce</a:t>
            </a:r>
            <a:endParaRPr lang="en-US" sz="1400" dirty="0"/>
          </a:p>
        </p:txBody>
      </p:sp>
      <p:sp>
        <p:nvSpPr>
          <p:cNvPr id="8" name="Service Cloud details"/>
          <p:cNvSpPr txBox="1"/>
          <p:nvPr/>
        </p:nvSpPr>
        <p:spPr>
          <a:xfrm>
            <a:off x="4114800" y="1600200"/>
            <a:ext cx="4343400" cy="502920"/>
          </a:xfrm>
          <a:prstGeom prst="rect">
            <a:avLst/>
          </a:prstGeom>
          <a:noFill/>
          <a:ln/>
        </p:spPr>
        <p:txBody>
          <a:bodyPr wrap="square" lIns="0" tIns="0" rIns="0" bIns="0" rtlCol="0" anchor="t"/>
          <a:lstStyle/>
          <a:p>
            <a:pPr indent="0" marL="0">
              <a:buNone/>
            </a:pPr>
            <a:r>
              <a:rPr lang="en-US" sz="1100" dirty="0">
                <a:solidFill>
                  <a:schemeClr val="tx1"/>
                </a:solidFill>
              </a:rPr>
              <a:t>Reps and Coworker see the unified shopper profile on every case</a:t>
            </a:r>
            <a:endParaRPr lang="en-US" sz="1100" dirty="0"/>
          </a:p>
        </p:txBody>
      </p:sp>
      <p:sp>
        <p:nvSpPr>
          <p:cNvPr id="9" name="Website"/>
          <p:cNvSpPr/>
          <p:nvPr/>
        </p:nvSpPr>
        <p:spPr>
          <a:xfrm>
            <a:off x="457200" y="1216152"/>
            <a:ext cx="2377440" cy="978408"/>
          </a:xfrm>
          <a:prstGeom prst="roundRect">
            <a:avLst>
              <a:gd name="adj" fmla="val 5607"/>
            </a:avLst>
          </a:prstGeom>
          <a:solidFill>
            <a:schemeClr val="bg1"/>
          </a:solidFill>
          <a:ln w="12700">
            <a:solidFill>
              <a:schemeClr val="accent4"/>
            </a:solidFill>
            <a:prstDash val="solid"/>
          </a:ln>
        </p:spPr>
      </p:sp>
      <p:pic>
        <p:nvPicPr>
          <p:cNvPr id="10" name="Website icon" descr="Agent icon">    </p:cNvPr>
          <p:cNvPicPr>
            <a:picLocks noChangeAspect="1"/>
          </p:cNvPicPr>
          <p:nvPr/>
        </p:nvPicPr>
        <p:blipFill>
          <a:blip r:embed="rId2"/>
          <a:stretch>
            <a:fillRect/>
          </a:stretch>
        </p:blipFill>
        <p:spPr>
          <a:xfrm>
            <a:off x="566928" y="1280160"/>
            <a:ext cx="274320" cy="274320"/>
          </a:xfrm>
          <a:prstGeom prst="rect">
            <a:avLst/>
          </a:prstGeom>
        </p:spPr>
      </p:pic>
      <p:sp>
        <p:nvSpPr>
          <p:cNvPr id="11" name="Website title"/>
          <p:cNvSpPr txBox="1"/>
          <p:nvPr/>
        </p:nvSpPr>
        <p:spPr>
          <a:xfrm>
            <a:off x="914400" y="1261872"/>
            <a:ext cx="1874520" cy="320040"/>
          </a:xfrm>
          <a:prstGeom prst="rect">
            <a:avLst/>
          </a:prstGeom>
          <a:noFill/>
          <a:ln/>
        </p:spPr>
        <p:txBody>
          <a:bodyPr wrap="square" lIns="0" tIns="0" rIns="0" bIns="0" rtlCol="0" anchor="ctr"/>
          <a:lstStyle/>
          <a:p>
            <a:pPr indent="0" marL="0">
              <a:buNone/>
            </a:pPr>
            <a:r>
              <a:rPr lang="en-US" sz="1400" b="1" dirty="0">
                <a:solidFill>
                  <a:schemeClr val="tx2"/>
                </a:solidFill>
              </a:rPr>
              <a:t>Website + ADK agent</a:t>
            </a:r>
            <a:endParaRPr lang="en-US" sz="1400" dirty="0"/>
          </a:p>
        </p:txBody>
      </p:sp>
      <p:sp>
        <p:nvSpPr>
          <p:cNvPr id="12" name="Website details"/>
          <p:cNvSpPr txBox="1"/>
          <p:nvPr/>
        </p:nvSpPr>
        <p:spPr>
          <a:xfrm>
            <a:off x="566928" y="1600200"/>
            <a:ext cx="2194560" cy="502920"/>
          </a:xfrm>
          <a:prstGeom prst="rect">
            <a:avLst/>
          </a:prstGeom>
          <a:noFill/>
          <a:ln/>
        </p:spPr>
        <p:txBody>
          <a:bodyPr wrap="square" lIns="0" tIns="0" rIns="0" bIns="0" rtlCol="0" anchor="t"/>
          <a:lstStyle/>
          <a:p>
            <a:pPr indent="0" marL="0">
              <a:buNone/>
            </a:pPr>
            <a:r>
              <a:rPr lang="en-US" sz="1100" dirty="0">
                <a:solidFill>
                  <a:schemeClr val="tx1"/>
                </a:solidFill>
              </a:rPr>
              <a:t>Gemini shopping agent, live stock, the shopper's orders</a:t>
            </a:r>
            <a:endParaRPr lang="en-US" sz="1100" dirty="0"/>
          </a:p>
        </p:txBody>
      </p:sp>
      <p:sp>
        <p:nvSpPr>
          <p:cNvPr id="13" name="agent opens case"/>
          <p:cNvSpPr/>
          <p:nvPr/>
        </p:nvSpPr>
        <p:spPr>
          <a:xfrm>
            <a:off x="2834640" y="1783080"/>
            <a:ext cx="822960" cy="0"/>
          </a:xfrm>
          <a:prstGeom prst="line">
            <a:avLst/>
          </a:prstGeom>
          <a:noFill/>
          <a:ln w="22225">
            <a:solidFill>
              <a:schemeClr val="accent1"/>
            </a:solidFill>
            <a:prstDash val="dash"/>
            <a:tailEnd type="triangle"/>
          </a:ln>
        </p:spPr>
      </p:sp>
      <p:sp>
        <p:nvSpPr>
          <p:cNvPr id="14" name="Opens Case (API)"/>
          <p:cNvSpPr txBox="1"/>
          <p:nvPr/>
        </p:nvSpPr>
        <p:spPr>
          <a:xfrm>
            <a:off x="2852928" y="1298448"/>
            <a:ext cx="786384" cy="438912"/>
          </a:xfrm>
          <a:prstGeom prst="rect">
            <a:avLst/>
          </a:prstGeom>
          <a:noFill/>
          <a:ln/>
        </p:spPr>
        <p:txBody>
          <a:bodyPr wrap="square" lIns="0" tIns="0" rIns="0" bIns="0" rtlCol="0" anchor="b"/>
          <a:lstStyle/>
          <a:p>
            <a:pPr algn="ctr" indent="0" marL="0">
              <a:buNone/>
            </a:pPr>
            <a:r>
              <a:rPr lang="en-US" sz="1000" dirty="0">
                <a:solidFill>
                  <a:schemeClr val="accent4"/>
                </a:solidFill>
              </a:rPr>
              <a:t>Opens Case (API)</a:t>
            </a:r>
            <a:endParaRPr lang="en-US" sz="1000" dirty="0"/>
          </a:p>
        </p:txBody>
      </p:sp>
      <p:sp>
        <p:nvSpPr>
          <p:cNvPr id="15" name="Data 360"/>
          <p:cNvSpPr/>
          <p:nvPr/>
        </p:nvSpPr>
        <p:spPr>
          <a:xfrm>
            <a:off x="1143000" y="2514600"/>
            <a:ext cx="7635240" cy="2468880"/>
          </a:xfrm>
          <a:prstGeom prst="roundRect">
            <a:avLst>
              <a:gd name="adj" fmla="val 5556"/>
            </a:avLst>
          </a:prstGeom>
          <a:solidFill>
            <a:schemeClr val="bg1"/>
          </a:solidFill>
          <a:ln w="15875">
            <a:solidFill>
              <a:schemeClr val="accent4"/>
            </a:solidFill>
            <a:prstDash val="solid"/>
          </a:ln>
        </p:spPr>
      </p:sp>
      <p:pic>
        <p:nvPicPr>
          <p:cNvPr id="16" name="Data 360 icon" descr="Data 360 icon">    </p:cNvPr>
          <p:cNvPicPr>
            <a:picLocks noChangeAspect="1"/>
          </p:cNvPicPr>
          <p:nvPr/>
        </p:nvPicPr>
        <p:blipFill>
          <a:blip r:embed="rId3"/>
          <a:stretch>
            <a:fillRect/>
          </a:stretch>
        </p:blipFill>
        <p:spPr>
          <a:xfrm>
            <a:off x="1307592" y="2606040"/>
            <a:ext cx="329184" cy="329184"/>
          </a:xfrm>
          <a:prstGeom prst="rect">
            <a:avLst/>
          </a:prstGeom>
        </p:spPr>
      </p:pic>
      <p:sp>
        <p:nvSpPr>
          <p:cNvPr id="17" name="Data 360 title"/>
          <p:cNvSpPr txBox="1"/>
          <p:nvPr/>
        </p:nvSpPr>
        <p:spPr>
          <a:xfrm>
            <a:off x="1709928" y="2578608"/>
            <a:ext cx="2743200" cy="384048"/>
          </a:xfrm>
          <a:prstGeom prst="rect">
            <a:avLst/>
          </a:prstGeom>
          <a:noFill/>
          <a:ln/>
        </p:spPr>
        <p:txBody>
          <a:bodyPr wrap="square" lIns="0" tIns="0" rIns="0" bIns="0" rtlCol="0" anchor="ctr"/>
          <a:lstStyle/>
          <a:p>
            <a:pPr indent="0" marL="0">
              <a:buNone/>
            </a:pPr>
            <a:r>
              <a:rPr lang="en-US" sz="2200" b="1" dirty="0">
                <a:solidFill>
                  <a:schemeClr val="tx1"/>
                </a:solidFill>
              </a:rPr>
              <a:t>Data 360</a:t>
            </a:r>
            <a:endParaRPr lang="en-US" sz="2200" dirty="0"/>
          </a:p>
        </p:txBody>
      </p:sp>
      <p:sp>
        <p:nvSpPr>
          <p:cNvPr id="18" name="Data streams"/>
          <p:cNvSpPr/>
          <p:nvPr/>
        </p:nvSpPr>
        <p:spPr>
          <a:xfrm>
            <a:off x="1325880" y="3017520"/>
            <a:ext cx="1828800" cy="1828800"/>
          </a:xfrm>
          <a:prstGeom prst="roundRect">
            <a:avLst>
              <a:gd name="adj" fmla="val 3000"/>
            </a:avLst>
          </a:prstGeom>
          <a:solidFill>
            <a:schemeClr val="bg1"/>
          </a:solidFill>
          <a:ln w="12700">
            <a:solidFill>
              <a:schemeClr val="accent4"/>
            </a:solidFill>
            <a:prstDash val="solid"/>
          </a:ln>
        </p:spPr>
      </p:sp>
      <p:sp>
        <p:nvSpPr>
          <p:cNvPr id="19" name="Data streams text"/>
          <p:cNvSpPr txBox="1"/>
          <p:nvPr/>
        </p:nvSpPr>
        <p:spPr>
          <a:xfrm>
            <a:off x="1417320" y="3090672"/>
            <a:ext cx="1645920" cy="1682496"/>
          </a:xfrm>
          <a:prstGeom prst="rect">
            <a:avLst/>
          </a:prstGeom>
          <a:noFill/>
          <a:ln/>
        </p:spPr>
        <p:txBody>
          <a:bodyPr wrap="square" lIns="0" tIns="0" rIns="0" bIns="0" rtlCol="0" anchor="t"/>
          <a:lstStyle/>
          <a:p>
            <a:pPr algn="ctr" indent="0" marL="0">
              <a:spcAft>
                <a:spcPts val="400"/>
              </a:spcAft>
              <a:buNone/>
            </a:pPr>
            <a:r>
              <a:rPr lang="en-US" sz="1300" b="1" dirty="0">
                <a:solidFill>
                  <a:schemeClr val="tx1"/>
                </a:solidFill>
              </a:rPr>
              <a:t>Data streams</a:t>
            </a:r>
            <a:endParaRPr lang="en-US" sz="1300" dirty="0"/>
          </a:p>
          <a:p>
            <a:pPr indent="0" marL="0">
              <a:spcAft>
                <a:spcPts val="400"/>
              </a:spcAft>
              <a:buNone/>
            </a:pPr>
            <a:r>
              <a:rPr lang="en-US" sz="1100" b="1" u="sng" dirty="0">
                <a:solidFill>
                  <a:schemeClr val="tx1"/>
                </a:solidFill>
              </a:rPr>
              <a:t>Streaming</a:t>
            </a:r>
            <a:endParaRPr lang="en-US" sz="1300" dirty="0"/>
          </a:p>
          <a:p>
            <a:pPr indent="0" marL="0">
              <a:spcAft>
                <a:spcPts val="400"/>
              </a:spcAft>
              <a:buNone/>
            </a:pPr>
            <a:r>
              <a:rPr lang="en-US" sz="1000" dirty="0">
                <a:solidFill>
                  <a:schemeClr val="tx1"/>
                </a:solidFill>
              </a:rPr>
              <a:t>Web SDK or Ingestion API: pages, cart, orders, agent handoffs</a:t>
            </a:r>
            <a:endParaRPr lang="en-US" sz="1300" dirty="0"/>
          </a:p>
          <a:p>
            <a:pPr indent="0" marL="0">
              <a:spcAft>
                <a:spcPts val="400"/>
              </a:spcAft>
              <a:buNone/>
            </a:pPr>
            <a:r>
              <a:rPr lang="en-US" sz="1000" dirty="0">
                <a:solidFill>
                  <a:schemeClr val="tx1"/>
                </a:solidFill>
              </a:rPr>
              <a:t>CRM connector: cases, contacts</a:t>
            </a:r>
            <a:endParaRPr lang="en-US" sz="1300" dirty="0"/>
          </a:p>
          <a:p>
            <a:pPr indent="0" marL="0">
              <a:spcAft>
                <a:spcPts val="400"/>
              </a:spcAft>
              <a:buNone/>
            </a:pPr>
            <a:r>
              <a:rPr lang="en-US" sz="1100" b="1" u="sng" dirty="0">
                <a:solidFill>
                  <a:schemeClr val="tx1"/>
                </a:solidFill>
              </a:rPr>
              <a:t>Virtual (zero copy)</a:t>
            </a:r>
            <a:endParaRPr lang="en-US" sz="1300" dirty="0"/>
          </a:p>
          <a:p>
            <a:pPr indent="0" marL="0">
              <a:spcAft>
                <a:spcPts val="400"/>
              </a:spcAft>
              <a:buNone/>
            </a:pPr>
            <a:r>
              <a:rPr lang="en-US" sz="1000" dirty="0">
                <a:solidFill>
                  <a:schemeClr val="tx1"/>
                </a:solidFill>
              </a:rPr>
              <a:t>Snowflake: orders, items, products, inventory</a:t>
            </a:r>
            <a:endParaRPr lang="en-US" sz="1300" dirty="0"/>
          </a:p>
        </p:txBody>
      </p:sp>
      <p:sp>
        <p:nvSpPr>
          <p:cNvPr id="20" name="Customer 360 data model"/>
          <p:cNvSpPr/>
          <p:nvPr/>
        </p:nvSpPr>
        <p:spPr>
          <a:xfrm>
            <a:off x="3520440" y="3520440"/>
            <a:ext cx="1508760" cy="822960"/>
          </a:xfrm>
          <a:prstGeom prst="roundRect">
            <a:avLst>
              <a:gd name="adj" fmla="val 6667"/>
            </a:avLst>
          </a:prstGeom>
          <a:solidFill>
            <a:schemeClr val="bg1"/>
          </a:solidFill>
          <a:ln w="12700">
            <a:solidFill>
              <a:schemeClr val="accent4"/>
            </a:solidFill>
            <a:prstDash val="solid"/>
          </a:ln>
        </p:spPr>
      </p:sp>
      <p:sp>
        <p:nvSpPr>
          <p:cNvPr id="21" name="Customer 360 data model text"/>
          <p:cNvSpPr txBox="1"/>
          <p:nvPr/>
        </p:nvSpPr>
        <p:spPr>
          <a:xfrm>
            <a:off x="3566160" y="3520440"/>
            <a:ext cx="1417320" cy="822960"/>
          </a:xfrm>
          <a:prstGeom prst="rect">
            <a:avLst/>
          </a:prstGeom>
          <a:noFill/>
          <a:ln/>
        </p:spPr>
        <p:txBody>
          <a:bodyPr wrap="square" lIns="0" tIns="0" rIns="0" bIns="0" rtlCol="0" anchor="ctr"/>
          <a:lstStyle/>
          <a:p>
            <a:pPr algn="ctr" indent="0" marL="0">
              <a:buNone/>
            </a:pPr>
            <a:r>
              <a:rPr lang="en-US" sz="1300" dirty="0">
                <a:solidFill>
                  <a:schemeClr val="tx1"/>
                </a:solidFill>
              </a:rPr>
              <a:t>Customer 360 data model</a:t>
            </a:r>
            <a:endParaRPr lang="en-US" sz="1300" dirty="0"/>
          </a:p>
        </p:txBody>
      </p:sp>
      <p:sp>
        <p:nvSpPr>
          <p:cNvPr id="22" name="Unified profiles"/>
          <p:cNvSpPr/>
          <p:nvPr/>
        </p:nvSpPr>
        <p:spPr>
          <a:xfrm>
            <a:off x="5349240" y="3520440"/>
            <a:ext cx="1508760" cy="822960"/>
          </a:xfrm>
          <a:prstGeom prst="roundRect">
            <a:avLst>
              <a:gd name="adj" fmla="val 6667"/>
            </a:avLst>
          </a:prstGeom>
          <a:solidFill>
            <a:schemeClr val="bg1"/>
          </a:solidFill>
          <a:ln w="12700">
            <a:solidFill>
              <a:schemeClr val="accent4"/>
            </a:solidFill>
            <a:prstDash val="solid"/>
          </a:ln>
        </p:spPr>
      </p:sp>
      <p:sp>
        <p:nvSpPr>
          <p:cNvPr id="23" name="Unified profiles text"/>
          <p:cNvSpPr txBox="1"/>
          <p:nvPr/>
        </p:nvSpPr>
        <p:spPr>
          <a:xfrm>
            <a:off x="5394960" y="3520440"/>
            <a:ext cx="1417320" cy="822960"/>
          </a:xfrm>
          <a:prstGeom prst="rect">
            <a:avLst/>
          </a:prstGeom>
          <a:noFill/>
          <a:ln/>
        </p:spPr>
        <p:txBody>
          <a:bodyPr wrap="square" lIns="0" tIns="0" rIns="0" bIns="0" rtlCol="0" anchor="ctr"/>
          <a:lstStyle/>
          <a:p>
            <a:pPr algn="ctr" indent="0" marL="0">
              <a:buNone/>
            </a:pPr>
            <a:r>
              <a:rPr lang="en-US" sz="1300" dirty="0">
                <a:solidFill>
                  <a:schemeClr val="tx1"/>
                </a:solidFill>
              </a:rPr>
              <a:t>Unified profiles</a:t>
            </a:r>
            <a:endParaRPr lang="en-US" sz="1300" dirty="0"/>
          </a:p>
        </p:txBody>
      </p:sp>
      <p:sp>
        <p:nvSpPr>
          <p:cNvPr id="24" name="Calculated insights"/>
          <p:cNvSpPr/>
          <p:nvPr/>
        </p:nvSpPr>
        <p:spPr>
          <a:xfrm>
            <a:off x="7178040" y="3520440"/>
            <a:ext cx="1417320" cy="822960"/>
          </a:xfrm>
          <a:prstGeom prst="roundRect">
            <a:avLst>
              <a:gd name="adj" fmla="val 6667"/>
            </a:avLst>
          </a:prstGeom>
          <a:solidFill>
            <a:schemeClr val="bg1"/>
          </a:solidFill>
          <a:ln w="12700">
            <a:solidFill>
              <a:schemeClr val="accent4"/>
            </a:solidFill>
            <a:prstDash val="solid"/>
          </a:ln>
        </p:spPr>
      </p:sp>
      <p:sp>
        <p:nvSpPr>
          <p:cNvPr id="25" name="Calculated insights text"/>
          <p:cNvSpPr txBox="1"/>
          <p:nvPr/>
        </p:nvSpPr>
        <p:spPr>
          <a:xfrm>
            <a:off x="7223760" y="3520440"/>
            <a:ext cx="1325880" cy="822960"/>
          </a:xfrm>
          <a:prstGeom prst="rect">
            <a:avLst/>
          </a:prstGeom>
          <a:noFill/>
          <a:ln/>
        </p:spPr>
        <p:txBody>
          <a:bodyPr wrap="square" lIns="0" tIns="0" rIns="0" bIns="0" rtlCol="0" anchor="ctr"/>
          <a:lstStyle/>
          <a:p>
            <a:pPr algn="ctr" indent="0" marL="0">
              <a:buNone/>
            </a:pPr>
            <a:r>
              <a:rPr lang="en-US" sz="1300" dirty="0">
                <a:solidFill>
                  <a:schemeClr val="tx1"/>
                </a:solidFill>
              </a:rPr>
              <a:t>Calculated insights</a:t>
            </a:r>
            <a:endParaRPr lang="en-US" sz="1300" dirty="0"/>
          </a:p>
          <a:p>
            <a:pPr algn="ctr" indent="0" marL="0">
              <a:buNone/>
            </a:pPr>
            <a:r>
              <a:rPr lang="en-US" sz="1000" dirty="0">
                <a:solidFill>
                  <a:schemeClr val="accent4"/>
                </a:solidFill>
              </a:rPr>
              <a:t>Top Shopper</a:t>
            </a:r>
            <a:endParaRPr lang="en-US" sz="1300" dirty="0"/>
          </a:p>
        </p:txBody>
      </p:sp>
      <p:sp>
        <p:nvSpPr>
          <p:cNvPr id="26" name="streams to model"/>
          <p:cNvSpPr/>
          <p:nvPr/>
        </p:nvSpPr>
        <p:spPr>
          <a:xfrm>
            <a:off x="3154680" y="3931920"/>
            <a:ext cx="365760" cy="0"/>
          </a:xfrm>
          <a:prstGeom prst="line">
            <a:avLst/>
          </a:prstGeom>
          <a:noFill/>
          <a:ln w="12700">
            <a:solidFill>
              <a:schemeClr val="tx1"/>
            </a:solidFill>
            <a:prstDash val="solid"/>
            <a:tailEnd type="triangle"/>
          </a:ln>
        </p:spPr>
      </p:sp>
      <p:sp>
        <p:nvSpPr>
          <p:cNvPr id="27" name="model to profiles"/>
          <p:cNvSpPr/>
          <p:nvPr/>
        </p:nvSpPr>
        <p:spPr>
          <a:xfrm>
            <a:off x="5029200" y="3931920"/>
            <a:ext cx="320040" cy="0"/>
          </a:xfrm>
          <a:prstGeom prst="line">
            <a:avLst/>
          </a:prstGeom>
          <a:noFill/>
          <a:ln w="12700">
            <a:solidFill>
              <a:schemeClr val="tx1"/>
            </a:solidFill>
            <a:prstDash val="solid"/>
            <a:tailEnd type="triangle"/>
          </a:ln>
        </p:spPr>
      </p:sp>
      <p:sp>
        <p:nvSpPr>
          <p:cNvPr id="28" name="profiles to insights"/>
          <p:cNvSpPr/>
          <p:nvPr/>
        </p:nvSpPr>
        <p:spPr>
          <a:xfrm>
            <a:off x="6858000" y="3931920"/>
            <a:ext cx="320040" cy="0"/>
          </a:xfrm>
          <a:prstGeom prst="line">
            <a:avLst/>
          </a:prstGeom>
          <a:noFill/>
          <a:ln w="12700">
            <a:solidFill>
              <a:schemeClr val="tx1"/>
            </a:solidFill>
            <a:prstDash val="solid"/>
            <a:tailEnd type="triangle"/>
          </a:ln>
        </p:spPr>
      </p:sp>
      <p:sp>
        <p:nvSpPr>
          <p:cNvPr id="29" name="web events in"/>
          <p:cNvSpPr/>
          <p:nvPr/>
        </p:nvSpPr>
        <p:spPr>
          <a:xfrm>
            <a:off x="1737360" y="2194560"/>
            <a:ext cx="0" cy="822960"/>
          </a:xfrm>
          <a:prstGeom prst="line">
            <a:avLst/>
          </a:prstGeom>
          <a:noFill/>
          <a:ln w="22225">
            <a:solidFill>
              <a:schemeClr val="accent1"/>
            </a:solidFill>
            <a:prstDash val="solid"/>
            <a:tailEnd type="triangle"/>
          </a:ln>
        </p:spPr>
      </p:sp>
      <p:sp>
        <p:nvSpPr>
          <p:cNvPr id="30" name="Web SDK or Ingestion API"/>
          <p:cNvSpPr txBox="1"/>
          <p:nvPr/>
        </p:nvSpPr>
        <p:spPr>
          <a:xfrm>
            <a:off x="1810512" y="2194560"/>
            <a:ext cx="868680" cy="320040"/>
          </a:xfrm>
          <a:prstGeom prst="rect">
            <a:avLst/>
          </a:prstGeom>
          <a:noFill/>
          <a:ln/>
        </p:spPr>
        <p:txBody>
          <a:bodyPr wrap="square" lIns="0" tIns="0" rIns="0" bIns="0" rtlCol="0" anchor="ctr"/>
          <a:lstStyle/>
          <a:p>
            <a:pPr algn="l" indent="0" marL="0">
              <a:buNone/>
            </a:pPr>
            <a:r>
              <a:rPr lang="en-US" sz="1000" dirty="0">
                <a:solidFill>
                  <a:schemeClr val="accent4"/>
                </a:solidFill>
              </a:rPr>
              <a:t>Web SDK or Ingestion API</a:t>
            </a:r>
            <a:endParaRPr lang="en-US" sz="1000" dirty="0"/>
          </a:p>
        </p:txBody>
      </p:sp>
      <p:sp>
        <p:nvSpPr>
          <p:cNvPr id="31" name="CRM data down"/>
          <p:cNvSpPr/>
          <p:nvPr/>
        </p:nvSpPr>
        <p:spPr>
          <a:xfrm>
            <a:off x="3931920" y="2194560"/>
            <a:ext cx="0" cy="1097280"/>
          </a:xfrm>
          <a:prstGeom prst="line">
            <a:avLst/>
          </a:prstGeom>
          <a:noFill/>
          <a:ln w="22225">
            <a:solidFill>
              <a:schemeClr val="accent1"/>
            </a:solidFill>
            <a:prstDash val="solid"/>
          </a:ln>
        </p:spPr>
      </p:sp>
      <p:sp>
        <p:nvSpPr>
          <p:cNvPr id="32" name="CRM data in"/>
          <p:cNvSpPr/>
          <p:nvPr/>
        </p:nvSpPr>
        <p:spPr>
          <a:xfrm flipH="1">
            <a:off x="3154680" y="3291840"/>
            <a:ext cx="777240" cy="0"/>
          </a:xfrm>
          <a:prstGeom prst="line">
            <a:avLst/>
          </a:prstGeom>
          <a:noFill/>
          <a:ln w="22225">
            <a:solidFill>
              <a:schemeClr val="accent1"/>
            </a:solidFill>
            <a:prstDash val="solid"/>
            <a:tailEnd type="triangle"/>
          </a:ln>
        </p:spPr>
      </p:sp>
      <p:sp>
        <p:nvSpPr>
          <p:cNvPr id="33" name="Cases, contacts (CRM connector)"/>
          <p:cNvSpPr txBox="1"/>
          <p:nvPr/>
        </p:nvSpPr>
        <p:spPr>
          <a:xfrm>
            <a:off x="4005072" y="2194560"/>
            <a:ext cx="2011680" cy="320040"/>
          </a:xfrm>
          <a:prstGeom prst="rect">
            <a:avLst/>
          </a:prstGeom>
          <a:noFill/>
          <a:ln/>
        </p:spPr>
        <p:txBody>
          <a:bodyPr wrap="square" lIns="0" tIns="0" rIns="0" bIns="0" rtlCol="0" anchor="ctr"/>
          <a:lstStyle/>
          <a:p>
            <a:pPr algn="l" indent="0" marL="0">
              <a:buNone/>
            </a:pPr>
            <a:r>
              <a:rPr lang="en-US" sz="1000" dirty="0">
                <a:solidFill>
                  <a:schemeClr val="accent4"/>
                </a:solidFill>
              </a:rPr>
              <a:t>Cases, contacts (CRM connector)</a:t>
            </a:r>
            <a:endParaRPr lang="en-US" sz="1000" dirty="0"/>
          </a:p>
        </p:txBody>
      </p:sp>
      <p:sp>
        <p:nvSpPr>
          <p:cNvPr id="34" name="profile to site"/>
          <p:cNvSpPr/>
          <p:nvPr/>
        </p:nvSpPr>
        <p:spPr>
          <a:xfrm flipV="1">
            <a:off x="2697480" y="2194560"/>
            <a:ext cx="0" cy="320040"/>
          </a:xfrm>
          <a:prstGeom prst="line">
            <a:avLst/>
          </a:prstGeom>
          <a:noFill/>
          <a:ln w="22225">
            <a:solidFill>
              <a:schemeClr val="accent1"/>
            </a:solidFill>
            <a:prstDash val="dash"/>
            <a:tailEnd type="triangle"/>
          </a:ln>
        </p:spPr>
      </p:sp>
      <p:sp>
        <p:nvSpPr>
          <p:cNvPr id="35" name="Shopper profile"/>
          <p:cNvSpPr txBox="1"/>
          <p:nvPr/>
        </p:nvSpPr>
        <p:spPr>
          <a:xfrm>
            <a:off x="2770632" y="2194560"/>
            <a:ext cx="868680" cy="320040"/>
          </a:xfrm>
          <a:prstGeom prst="rect">
            <a:avLst/>
          </a:prstGeom>
          <a:noFill/>
          <a:ln/>
        </p:spPr>
        <p:txBody>
          <a:bodyPr wrap="square" lIns="0" tIns="0" rIns="0" bIns="0" rtlCol="0" anchor="ctr"/>
          <a:lstStyle/>
          <a:p>
            <a:pPr algn="l" indent="0" marL="0">
              <a:buNone/>
            </a:pPr>
            <a:r>
              <a:rPr lang="en-US" sz="1000" dirty="0">
                <a:solidFill>
                  <a:schemeClr val="accent4"/>
                </a:solidFill>
              </a:rPr>
              <a:t>Shopper profile</a:t>
            </a:r>
            <a:endParaRPr lang="en-US" sz="1000" dirty="0"/>
          </a:p>
        </p:txBody>
      </p:sp>
      <p:sp>
        <p:nvSpPr>
          <p:cNvPr id="36" name="profile to service"/>
          <p:cNvSpPr/>
          <p:nvPr/>
        </p:nvSpPr>
        <p:spPr>
          <a:xfrm flipV="1">
            <a:off x="6126480" y="2194560"/>
            <a:ext cx="0" cy="320040"/>
          </a:xfrm>
          <a:prstGeom prst="line">
            <a:avLst/>
          </a:prstGeom>
          <a:noFill/>
          <a:ln w="22225">
            <a:solidFill>
              <a:schemeClr val="accent1"/>
            </a:solidFill>
            <a:prstDash val="solid"/>
            <a:tailEnd type="triangle"/>
          </a:ln>
        </p:spPr>
      </p:sp>
      <p:sp>
        <p:nvSpPr>
          <p:cNvPr id="37" name="Profile and grounding"/>
          <p:cNvSpPr txBox="1"/>
          <p:nvPr/>
        </p:nvSpPr>
        <p:spPr>
          <a:xfrm>
            <a:off x="6199632" y="2194560"/>
            <a:ext cx="1463040" cy="320040"/>
          </a:xfrm>
          <a:prstGeom prst="rect">
            <a:avLst/>
          </a:prstGeom>
          <a:noFill/>
          <a:ln/>
        </p:spPr>
        <p:txBody>
          <a:bodyPr wrap="square" lIns="0" tIns="0" rIns="0" bIns="0" rtlCol="0" anchor="ctr"/>
          <a:lstStyle/>
          <a:p>
            <a:pPr algn="l" indent="0" marL="0">
              <a:buNone/>
            </a:pPr>
            <a:r>
              <a:rPr lang="en-US" sz="1000" dirty="0">
                <a:solidFill>
                  <a:schemeClr val="accent4"/>
                </a:solidFill>
              </a:rPr>
              <a:t>Profile and grounding</a:t>
            </a:r>
            <a:endParaRPr lang="en-US" sz="1000" dirty="0"/>
          </a:p>
        </p:txBody>
      </p:sp>
      <p:sp>
        <p:nvSpPr>
          <p:cNvPr id="38" name="data shares out"/>
          <p:cNvSpPr/>
          <p:nvPr/>
        </p:nvSpPr>
        <p:spPr>
          <a:xfrm>
            <a:off x="8778240" y="4480560"/>
            <a:ext cx="457200" cy="0"/>
          </a:xfrm>
          <a:prstGeom prst="line">
            <a:avLst/>
          </a:prstGeom>
          <a:noFill/>
          <a:ln w="22225">
            <a:solidFill>
              <a:schemeClr val="accent1"/>
            </a:solidFill>
            <a:prstDash val="solid"/>
            <a:tailEnd type="triangle"/>
          </a:ln>
        </p:spPr>
      </p:sp>
      <p:sp>
        <p:nvSpPr>
          <p:cNvPr id="39" name="Data shares"/>
          <p:cNvSpPr txBox="1"/>
          <p:nvPr/>
        </p:nvSpPr>
        <p:spPr>
          <a:xfrm>
            <a:off x="8796528" y="4206240"/>
            <a:ext cx="457200" cy="256032"/>
          </a:xfrm>
          <a:prstGeom prst="rect">
            <a:avLst/>
          </a:prstGeom>
          <a:noFill/>
          <a:ln/>
        </p:spPr>
        <p:txBody>
          <a:bodyPr wrap="square" lIns="0" tIns="0" rIns="0" bIns="0" rtlCol="0" anchor="ctr"/>
          <a:lstStyle/>
          <a:p>
            <a:pPr algn="ctr" indent="0" marL="0">
              <a:buNone/>
            </a:pPr>
            <a:r>
              <a:rPr lang="en-US" sz="1000" dirty="0">
                <a:solidFill>
                  <a:schemeClr val="accent4"/>
                </a:solidFill>
              </a:rPr>
              <a:t>Data shares</a:t>
            </a:r>
            <a:endParaRPr lang="en-US" sz="1000" dirty="0"/>
          </a:p>
        </p:txBody>
      </p:sp>
      <p:sp>
        <p:nvSpPr>
          <p:cNvPr id="40" name="Snowflake analytics"/>
          <p:cNvSpPr/>
          <p:nvPr/>
        </p:nvSpPr>
        <p:spPr>
          <a:xfrm>
            <a:off x="9235440" y="3794760"/>
            <a:ext cx="2514600" cy="1371600"/>
          </a:xfrm>
          <a:prstGeom prst="roundRect">
            <a:avLst>
              <a:gd name="adj" fmla="val 5333"/>
            </a:avLst>
          </a:prstGeom>
          <a:solidFill>
            <a:schemeClr val="bg1"/>
          </a:solidFill>
          <a:ln w="12700">
            <a:solidFill>
              <a:schemeClr val="accent4"/>
            </a:solidFill>
            <a:prstDash val="solid"/>
          </a:ln>
        </p:spPr>
      </p:sp>
      <p:pic>
        <p:nvPicPr>
          <p:cNvPr id="41" name="Snowflake analytics icon" descr="Snowflake icon">    </p:cNvPr>
          <p:cNvPicPr>
            <a:picLocks noChangeAspect="1"/>
          </p:cNvPicPr>
          <p:nvPr/>
        </p:nvPicPr>
        <p:blipFill>
          <a:blip r:embed="rId4"/>
          <a:stretch>
            <a:fillRect/>
          </a:stretch>
        </p:blipFill>
        <p:spPr>
          <a:xfrm>
            <a:off x="9418320" y="3977640"/>
            <a:ext cx="365760" cy="365760"/>
          </a:xfrm>
          <a:prstGeom prst="rect">
            <a:avLst/>
          </a:prstGeom>
        </p:spPr>
      </p:pic>
      <p:sp>
        <p:nvSpPr>
          <p:cNvPr id="42" name="Snowflake analytics title"/>
          <p:cNvSpPr txBox="1"/>
          <p:nvPr/>
        </p:nvSpPr>
        <p:spPr>
          <a:xfrm>
            <a:off x="9875520" y="3931920"/>
            <a:ext cx="1737360" cy="457200"/>
          </a:xfrm>
          <a:prstGeom prst="rect">
            <a:avLst/>
          </a:prstGeom>
          <a:noFill/>
          <a:ln/>
        </p:spPr>
        <p:txBody>
          <a:bodyPr wrap="square" lIns="0" tIns="0" rIns="0" bIns="0" rtlCol="0" anchor="ctr"/>
          <a:lstStyle/>
          <a:p>
            <a:pPr indent="0" marL="0">
              <a:buNone/>
            </a:pPr>
            <a:r>
              <a:rPr lang="en-US" sz="1600" b="1" dirty="0">
                <a:solidFill>
                  <a:schemeClr val="tx2"/>
                </a:solidFill>
              </a:rPr>
              <a:t>Snowflake</a:t>
            </a:r>
            <a:endParaRPr lang="en-US" sz="1600" dirty="0"/>
          </a:p>
        </p:txBody>
      </p:sp>
      <p:sp>
        <p:nvSpPr>
          <p:cNvPr id="43" name="Snowflake analytics details"/>
          <p:cNvSpPr txBox="1"/>
          <p:nvPr/>
        </p:nvSpPr>
        <p:spPr>
          <a:xfrm>
            <a:off x="9418320" y="4480560"/>
            <a:ext cx="2194560" cy="5486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Profiles, web activity and insights for analysts</a:t>
            </a:r>
            <a:endParaRPr lang="en-US" sz="1200" dirty="0"/>
          </a:p>
        </p:txBody>
      </p:sp>
      <p:sp>
        <p:nvSpPr>
          <p:cNvPr id="44" name="What changes"/>
          <p:cNvSpPr/>
          <p:nvPr/>
        </p:nvSpPr>
        <p:spPr>
          <a:xfrm>
            <a:off x="9235440" y="1216152"/>
            <a:ext cx="2514600" cy="2286000"/>
          </a:xfrm>
          <a:prstGeom prst="roundRect">
            <a:avLst>
              <a:gd name="adj" fmla="val 2400"/>
            </a:avLst>
          </a:prstGeom>
          <a:solidFill>
            <a:schemeClr val="bg1"/>
          </a:solidFill>
          <a:ln w="15875">
            <a:solidFill>
              <a:schemeClr val="accent1"/>
            </a:solidFill>
            <a:prstDash val="solid"/>
          </a:ln>
        </p:spPr>
      </p:sp>
      <p:sp>
        <p:nvSpPr>
          <p:cNvPr id="45" name="What changes text"/>
          <p:cNvSpPr txBox="1"/>
          <p:nvPr/>
        </p:nvSpPr>
        <p:spPr>
          <a:xfrm>
            <a:off x="9372600" y="1307592"/>
            <a:ext cx="2286000" cy="210312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What changes</a:t>
            </a:r>
            <a:endParaRPr lang="en-US" sz="1200" dirty="0"/>
          </a:p>
          <a:p>
            <a:pPr marL="342900" indent="-342900">
              <a:spcAft>
                <a:spcPts val="600"/>
              </a:spcAft>
              <a:buSzPct val="100000"/>
              <a:buChar char="•"/>
            </a:pPr>
            <a:r>
              <a:rPr lang="en-US" sz="1200" dirty="0">
                <a:solidFill>
                  <a:schemeClr val="tx1"/>
                </a:solidFill>
              </a:rPr>
              <a:t>Snowflake is streamed in seconds, not loaded nightly</a:t>
            </a:r>
            <a:endParaRPr lang="en-US" sz="1200" dirty="0"/>
          </a:p>
          <a:p>
            <a:pPr marL="342900" indent="-342900">
              <a:spcAft>
                <a:spcPts val="600"/>
              </a:spcAft>
              <a:buSzPct val="100000"/>
              <a:buChar char="•"/>
            </a:pPr>
            <a:r>
              <a:rPr lang="en-US" sz="1200" dirty="0">
                <a:solidFill>
                  <a:schemeClr val="tx1"/>
                </a:solidFill>
              </a:rPr>
              <a:t>Site, agent and reps share one profile</a:t>
            </a:r>
            <a:endParaRPr lang="en-US" sz="1200" dirty="0"/>
          </a:p>
          <a:p>
            <a:pPr marL="342900" indent="-342900">
              <a:spcAft>
                <a:spcPts val="600"/>
              </a:spcAft>
              <a:buSzPct val="100000"/>
              <a:buChar char="•"/>
            </a:pPr>
            <a:r>
              <a:rPr lang="en-US" sz="1200" dirty="0">
                <a:solidFill>
                  <a:schemeClr val="tx1"/>
                </a:solidFill>
              </a:rPr>
              <a:t>Stock and checkout stay on the ERP</a:t>
            </a:r>
            <a:endParaRPr lang="en-US" sz="1200" dirty="0"/>
          </a:p>
        </p:txBody>
      </p:sp>
      <p:sp>
        <p:nvSpPr>
          <p:cNvPr id="46" name="ERP"/>
          <p:cNvSpPr/>
          <p:nvPr/>
        </p:nvSpPr>
        <p:spPr>
          <a:xfrm>
            <a:off x="457200" y="5440680"/>
            <a:ext cx="2011680" cy="868680"/>
          </a:xfrm>
          <a:prstGeom prst="roundRect">
            <a:avLst>
              <a:gd name="adj" fmla="val 8421"/>
            </a:avLst>
          </a:prstGeom>
          <a:solidFill>
            <a:schemeClr val="bg1"/>
          </a:solidFill>
          <a:ln w="12700">
            <a:solidFill>
              <a:schemeClr val="accent4"/>
            </a:solidFill>
            <a:prstDash val="solid"/>
          </a:ln>
        </p:spPr>
      </p:sp>
      <p:pic>
        <p:nvPicPr>
          <p:cNvPr id="47" name="ERP icon" descr="ERP icon">    </p:cNvPr>
          <p:cNvPicPr>
            <a:picLocks noChangeAspect="1"/>
          </p:cNvPicPr>
          <p:nvPr/>
        </p:nvPicPr>
        <p:blipFill>
          <a:blip r:embed="rId5"/>
          <a:stretch>
            <a:fillRect/>
          </a:stretch>
        </p:blipFill>
        <p:spPr>
          <a:xfrm>
            <a:off x="640080" y="5623560"/>
            <a:ext cx="365760" cy="365760"/>
          </a:xfrm>
          <a:prstGeom prst="rect">
            <a:avLst/>
          </a:prstGeom>
        </p:spPr>
      </p:pic>
      <p:sp>
        <p:nvSpPr>
          <p:cNvPr id="48" name="ERP title"/>
          <p:cNvSpPr txBox="1"/>
          <p:nvPr/>
        </p:nvSpPr>
        <p:spPr>
          <a:xfrm>
            <a:off x="1097280" y="5577840"/>
            <a:ext cx="1234440" cy="457200"/>
          </a:xfrm>
          <a:prstGeom prst="rect">
            <a:avLst/>
          </a:prstGeom>
          <a:noFill/>
          <a:ln/>
        </p:spPr>
        <p:txBody>
          <a:bodyPr wrap="square" lIns="0" tIns="0" rIns="0" bIns="0" rtlCol="0" anchor="ctr"/>
          <a:lstStyle/>
          <a:p>
            <a:pPr indent="0" marL="0">
              <a:buNone/>
            </a:pPr>
            <a:r>
              <a:rPr lang="en-US" sz="1600" b="1" dirty="0">
                <a:solidFill>
                  <a:schemeClr val="tx2"/>
                </a:solidFill>
              </a:rPr>
              <a:t>ERP</a:t>
            </a:r>
            <a:endParaRPr lang="en-US" sz="1600" dirty="0"/>
          </a:p>
        </p:txBody>
      </p:sp>
      <p:sp>
        <p:nvSpPr>
          <p:cNvPr id="49" name="ERP details"/>
          <p:cNvSpPr txBox="1"/>
          <p:nvPr/>
        </p:nvSpPr>
        <p:spPr>
          <a:xfrm>
            <a:off x="640080" y="6126480"/>
            <a:ext cx="1691640" cy="45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System of record</a:t>
            </a:r>
            <a:endParaRPr lang="en-US" sz="1200" dirty="0"/>
          </a:p>
        </p:txBody>
      </p:sp>
      <p:sp>
        <p:nvSpPr>
          <p:cNvPr id="50" name="Snowflake source"/>
          <p:cNvSpPr/>
          <p:nvPr/>
        </p:nvSpPr>
        <p:spPr>
          <a:xfrm>
            <a:off x="5303520" y="5440680"/>
            <a:ext cx="2194560" cy="868680"/>
          </a:xfrm>
          <a:prstGeom prst="roundRect">
            <a:avLst>
              <a:gd name="adj" fmla="val 8421"/>
            </a:avLst>
          </a:prstGeom>
          <a:solidFill>
            <a:schemeClr val="bg1"/>
          </a:solidFill>
          <a:ln w="12700">
            <a:solidFill>
              <a:schemeClr val="accent4"/>
            </a:solidFill>
            <a:prstDash val="solid"/>
          </a:ln>
        </p:spPr>
      </p:sp>
      <p:pic>
        <p:nvPicPr>
          <p:cNvPr id="51" name="Snowflake source icon" descr="Snowflake icon">    </p:cNvPr>
          <p:cNvPicPr>
            <a:picLocks noChangeAspect="1"/>
          </p:cNvPicPr>
          <p:nvPr/>
        </p:nvPicPr>
        <p:blipFill>
          <a:blip r:embed="rId6"/>
          <a:stretch>
            <a:fillRect/>
          </a:stretch>
        </p:blipFill>
        <p:spPr>
          <a:xfrm>
            <a:off x="5486400" y="5623560"/>
            <a:ext cx="365760" cy="365760"/>
          </a:xfrm>
          <a:prstGeom prst="rect">
            <a:avLst/>
          </a:prstGeom>
        </p:spPr>
      </p:pic>
      <p:sp>
        <p:nvSpPr>
          <p:cNvPr id="52" name="Snowflake source title"/>
          <p:cNvSpPr txBox="1"/>
          <p:nvPr/>
        </p:nvSpPr>
        <p:spPr>
          <a:xfrm>
            <a:off x="5943600" y="5577840"/>
            <a:ext cx="1417320" cy="457200"/>
          </a:xfrm>
          <a:prstGeom prst="rect">
            <a:avLst/>
          </a:prstGeom>
          <a:noFill/>
          <a:ln/>
        </p:spPr>
        <p:txBody>
          <a:bodyPr wrap="square" lIns="0" tIns="0" rIns="0" bIns="0" rtlCol="0" anchor="ctr"/>
          <a:lstStyle/>
          <a:p>
            <a:pPr indent="0" marL="0">
              <a:buNone/>
            </a:pPr>
            <a:r>
              <a:rPr lang="en-US" sz="1600" b="1" dirty="0">
                <a:solidFill>
                  <a:schemeClr val="tx2"/>
                </a:solidFill>
              </a:rPr>
              <a:t>Snowflake</a:t>
            </a:r>
            <a:endParaRPr lang="en-US" sz="1600" dirty="0"/>
          </a:p>
        </p:txBody>
      </p:sp>
      <p:sp>
        <p:nvSpPr>
          <p:cNvPr id="53" name="Snowflake source details"/>
          <p:cNvSpPr txBox="1"/>
          <p:nvPr/>
        </p:nvSpPr>
        <p:spPr>
          <a:xfrm>
            <a:off x="5486400" y="6126480"/>
            <a:ext cx="1874520" cy="45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Streamed in seconds</a:t>
            </a:r>
            <a:endParaRPr lang="en-US" sz="1200" dirty="0"/>
          </a:p>
        </p:txBody>
      </p:sp>
      <p:sp>
        <p:nvSpPr>
          <p:cNvPr id="54" name="ERP to Snowflake"/>
          <p:cNvSpPr/>
          <p:nvPr/>
        </p:nvSpPr>
        <p:spPr>
          <a:xfrm>
            <a:off x="2468880" y="5879592"/>
            <a:ext cx="2834640" cy="0"/>
          </a:xfrm>
          <a:prstGeom prst="line">
            <a:avLst/>
          </a:prstGeom>
          <a:noFill/>
          <a:ln w="22225">
            <a:solidFill>
              <a:schemeClr val="accent1"/>
            </a:solidFill>
            <a:prstDash val="solid"/>
            <a:tailEnd type="triangle"/>
          </a:ln>
        </p:spPr>
      </p:sp>
      <p:sp>
        <p:nvSpPr>
          <p:cNvPr id="55" name="Streaming (CDC + Snowpipe Streaming)"/>
          <p:cNvSpPr txBox="1"/>
          <p:nvPr/>
        </p:nvSpPr>
        <p:spPr>
          <a:xfrm>
            <a:off x="2468880" y="5550408"/>
            <a:ext cx="2834640" cy="274320"/>
          </a:xfrm>
          <a:prstGeom prst="rect">
            <a:avLst/>
          </a:prstGeom>
          <a:noFill/>
          <a:ln/>
        </p:spPr>
        <p:txBody>
          <a:bodyPr wrap="square" lIns="0" tIns="0" rIns="0" bIns="0" rtlCol="0" anchor="ctr"/>
          <a:lstStyle/>
          <a:p>
            <a:pPr algn="ctr" indent="0" marL="0">
              <a:buNone/>
            </a:pPr>
            <a:r>
              <a:rPr lang="en-US" sz="1000" dirty="0">
                <a:solidFill>
                  <a:schemeClr val="accent4"/>
                </a:solidFill>
              </a:rPr>
              <a:t>Streaming (CDC + Snowpipe Streaming)</a:t>
            </a:r>
            <a:endParaRPr lang="en-US" sz="1000" dirty="0"/>
          </a:p>
        </p:txBody>
      </p:sp>
      <p:sp>
        <p:nvSpPr>
          <p:cNvPr id="56" name="zero copy up"/>
          <p:cNvSpPr/>
          <p:nvPr/>
        </p:nvSpPr>
        <p:spPr>
          <a:xfrm flipV="1">
            <a:off x="6400800" y="5212080"/>
            <a:ext cx="0" cy="228600"/>
          </a:xfrm>
          <a:prstGeom prst="line">
            <a:avLst/>
          </a:prstGeom>
          <a:noFill/>
          <a:ln w="22225">
            <a:solidFill>
              <a:schemeClr val="accent1"/>
            </a:solidFill>
            <a:prstDash val="solid"/>
          </a:ln>
        </p:spPr>
      </p:sp>
      <p:sp>
        <p:nvSpPr>
          <p:cNvPr id="57" name="zero copy across"/>
          <p:cNvSpPr/>
          <p:nvPr/>
        </p:nvSpPr>
        <p:spPr>
          <a:xfrm flipH="1">
            <a:off x="2240280" y="5212080"/>
            <a:ext cx="4160520" cy="0"/>
          </a:xfrm>
          <a:prstGeom prst="line">
            <a:avLst/>
          </a:prstGeom>
          <a:noFill/>
          <a:ln w="22225">
            <a:solidFill>
              <a:schemeClr val="accent1"/>
            </a:solidFill>
            <a:prstDash val="solid"/>
          </a:ln>
        </p:spPr>
      </p:sp>
      <p:sp>
        <p:nvSpPr>
          <p:cNvPr id="58" name="zero copy in"/>
          <p:cNvSpPr/>
          <p:nvPr/>
        </p:nvSpPr>
        <p:spPr>
          <a:xfrm flipV="1">
            <a:off x="2240280" y="4846320"/>
            <a:ext cx="0" cy="365760"/>
          </a:xfrm>
          <a:prstGeom prst="line">
            <a:avLst/>
          </a:prstGeom>
          <a:noFill/>
          <a:ln w="22225">
            <a:solidFill>
              <a:schemeClr val="accent1"/>
            </a:solidFill>
            <a:prstDash val="solid"/>
            <a:tailEnd type="triangle"/>
          </a:ln>
        </p:spPr>
      </p:sp>
      <p:sp>
        <p:nvSpPr>
          <p:cNvPr id="59" name="Virtual (zero copy)"/>
          <p:cNvSpPr txBox="1"/>
          <p:nvPr/>
        </p:nvSpPr>
        <p:spPr>
          <a:xfrm>
            <a:off x="4206240" y="4974336"/>
            <a:ext cx="1463040" cy="219456"/>
          </a:xfrm>
          <a:prstGeom prst="rect">
            <a:avLst/>
          </a:prstGeom>
          <a:noFill/>
          <a:ln/>
        </p:spPr>
        <p:txBody>
          <a:bodyPr wrap="square" lIns="0" tIns="0" rIns="0" bIns="0" rtlCol="0" anchor="ctr"/>
          <a:lstStyle/>
          <a:p>
            <a:pPr algn="ctr" indent="0" marL="0">
              <a:buNone/>
            </a:pPr>
            <a:r>
              <a:rPr lang="en-US" sz="1000" dirty="0">
                <a:solidFill>
                  <a:schemeClr val="accent1"/>
                </a:solidFill>
              </a:rPr>
              <a:t>Virtual (zero copy)</a:t>
            </a:r>
            <a:endParaRPr lang="en-US" sz="1000" dirty="0"/>
          </a:p>
        </p:txBody>
      </p:sp>
      <p:sp>
        <p:nvSpPr>
          <p:cNvPr id="60" name="checkout and live stock"/>
          <p:cNvSpPr/>
          <p:nvPr/>
        </p:nvSpPr>
        <p:spPr>
          <a:xfrm>
            <a:off x="658368" y="2194560"/>
            <a:ext cx="0" cy="3246120"/>
          </a:xfrm>
          <a:prstGeom prst="line">
            <a:avLst/>
          </a:prstGeom>
          <a:noFill/>
          <a:ln w="22225">
            <a:solidFill>
              <a:schemeClr val="accent4"/>
            </a:solidFill>
            <a:prstDash val="solid"/>
            <a:headEnd type="triangle"/>
            <a:tailEnd type="triangle"/>
          </a:ln>
        </p:spPr>
      </p:sp>
      <p:sp>
        <p:nvSpPr>
          <p:cNvPr id="61" name="checkout lane label"/>
          <p:cNvSpPr txBox="1"/>
          <p:nvPr/>
        </p:nvSpPr>
        <p:spPr>
          <a:xfrm rot="16200000">
            <a:off x="27432" y="3657600"/>
            <a:ext cx="1737360" cy="274320"/>
          </a:xfrm>
          <a:prstGeom prst="rect">
            <a:avLst/>
          </a:prstGeom>
          <a:noFill/>
          <a:ln/>
        </p:spPr>
        <p:txBody>
          <a:bodyPr wrap="square" lIns="0" tIns="0" rIns="0" bIns="0" rtlCol="0" anchor="ctr"/>
          <a:lstStyle/>
          <a:p>
            <a:pPr algn="ctr" indent="0" marL="0">
              <a:buNone/>
            </a:pPr>
            <a:r>
              <a:rPr lang="en-US" sz="1000" dirty="0">
                <a:solidFill>
                  <a:schemeClr val="accent4"/>
                </a:solidFill>
              </a:rPr>
              <a:t>Checkout, live stock</a:t>
            </a:r>
            <a:endParaRPr lang="en-US" sz="1000" dirty="0"/>
          </a:p>
        </p:txBody>
      </p:sp>
      <p:sp>
        <p:nvSpPr>
          <p:cNvPr id="6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How the unified customer view works</a:t>
            </a:r>
            <a:endParaRPr lang="en-US" sz="3600" dirty="0"/>
          </a:p>
        </p:txBody>
      </p:sp>
      <p:sp>
        <p:nvSpPr>
          <p:cNvPr id="3" name="How the future state works"/>
          <p:cNvSpPr txBox="1"/>
          <p:nvPr/>
        </p:nvSpPr>
        <p:spPr>
          <a:xfrm>
            <a:off x="548640" y="1234440"/>
            <a:ext cx="11064240" cy="4846320"/>
          </a:xfrm>
          <a:prstGeom prst="rect">
            <a:avLst/>
          </a:prstGeom>
          <a:noFill/>
          <a:ln/>
        </p:spPr>
        <p:txBody>
          <a:bodyPr wrap="square" lIns="0" tIns="0" rIns="0" bIns="0" rtlCol="0" anchor="t"/>
          <a:lstStyle/>
          <a:p>
            <a:pPr indent="0" marL="0">
              <a:spcAft>
                <a:spcPts val="1000"/>
              </a:spcAft>
              <a:buNone/>
            </a:pPr>
            <a:r>
              <a:rPr lang="en-US" sz="1600" b="1" dirty="0">
                <a:solidFill>
                  <a:schemeClr val="accent1"/>
                </a:solidFill>
              </a:rPr>
              <a:t>1  </a:t>
            </a:r>
            <a:pPr indent="0" marL="0">
              <a:spcAft>
                <a:spcPts val="1000"/>
              </a:spcAft>
              <a:buNone/>
            </a:pPr>
            <a:r>
              <a:rPr lang="en-US" sz="1600" dirty="0">
                <a:solidFill>
                  <a:schemeClr val="tx1"/>
                </a:solidFill>
              </a:rPr>
              <a:t>The ERP stays the system of record and streams every order and stock change to Snowflake in seconds (CDC + Snowpipe Streaming), replacing the nightly ELT.</a:t>
            </a:r>
            <a:endParaRPr lang="en-US" sz="1600" dirty="0"/>
          </a:p>
          <a:p>
            <a:pPr indent="0" marL="0">
              <a:spcAft>
                <a:spcPts val="1000"/>
              </a:spcAft>
              <a:buNone/>
            </a:pPr>
            <a:r>
              <a:rPr lang="en-US" sz="1600" b="1" dirty="0">
                <a:solidFill>
                  <a:schemeClr val="accent1"/>
                </a:solidFill>
              </a:rPr>
              <a:t>2  </a:t>
            </a:r>
            <a:pPr indent="0" marL="0">
              <a:spcAft>
                <a:spcPts val="1000"/>
              </a:spcAft>
              <a:buNone/>
            </a:pPr>
            <a:r>
              <a:rPr lang="en-US" sz="1600" dirty="0">
                <a:solidFill>
                  <a:schemeClr val="tx1"/>
                </a:solidFill>
              </a:rPr>
              <a:t>Data 360 reads the Snowflake orders, order items, products and inventory in place with zero copy: no new pipeline, no duplicate data.</a:t>
            </a:r>
            <a:endParaRPr lang="en-US" sz="1600" dirty="0"/>
          </a:p>
          <a:p>
            <a:pPr indent="0" marL="0">
              <a:spcAft>
                <a:spcPts val="1000"/>
              </a:spcAft>
              <a:buNone/>
            </a:pPr>
            <a:r>
              <a:rPr lang="en-US" sz="1600" b="1" dirty="0">
                <a:solidFill>
                  <a:schemeClr val="accent1"/>
                </a:solidFill>
              </a:rPr>
              <a:t>3  </a:t>
            </a:r>
            <a:pPr indent="0" marL="0">
              <a:spcAft>
                <a:spcPts val="1000"/>
              </a:spcAft>
              <a:buNone/>
            </a:pPr>
            <a:r>
              <a:rPr lang="en-US" sz="1600" dirty="0">
                <a:solidFill>
                  <a:schemeClr val="tx1"/>
                </a:solidFill>
              </a:rPr>
              <a:t>The website sends page views, cart and order events to Data 360 in real time through the Web SDK or the Ingestion API.</a:t>
            </a:r>
            <a:endParaRPr lang="en-US" sz="1600" dirty="0"/>
          </a:p>
          <a:p>
            <a:pPr indent="0" marL="0">
              <a:spcAft>
                <a:spcPts val="1000"/>
              </a:spcAft>
              <a:buNone/>
            </a:pPr>
            <a:r>
              <a:rPr lang="en-US" sz="1600" b="1" dirty="0">
                <a:solidFill>
                  <a:schemeClr val="accent1"/>
                </a:solidFill>
              </a:rPr>
              <a:t>4  </a:t>
            </a:r>
            <a:pPr indent="0" marL="0">
              <a:spcAft>
                <a:spcPts val="1000"/>
              </a:spcAft>
              <a:buNone/>
            </a:pPr>
            <a:r>
              <a:rPr lang="en-US" sz="1600" dirty="0">
                <a:solidFill>
                  <a:schemeClr val="tx1"/>
                </a:solidFill>
              </a:rPr>
              <a:t>Service Cloud cases and contacts flow into Data 360 through the CRM connector.</a:t>
            </a:r>
            <a:endParaRPr lang="en-US" sz="1600" dirty="0"/>
          </a:p>
          <a:p>
            <a:pPr indent="0" marL="0">
              <a:spcAft>
                <a:spcPts val="1000"/>
              </a:spcAft>
              <a:buNone/>
            </a:pPr>
            <a:r>
              <a:rPr lang="en-US" sz="1600" b="1" dirty="0">
                <a:solidFill>
                  <a:schemeClr val="accent1"/>
                </a:solidFill>
              </a:rPr>
              <a:t>5  </a:t>
            </a:r>
            <a:pPr indent="0" marL="0">
              <a:spcAft>
                <a:spcPts val="1000"/>
              </a:spcAft>
              <a:buNone/>
            </a:pPr>
            <a:r>
              <a:rPr lang="en-US" sz="1600" dirty="0">
                <a:solidFill>
                  <a:schemeClr val="tx1"/>
                </a:solidFill>
              </a:rPr>
              <a:t>Data 360 maps it all to the Customer 360 data model, builds one unified profile per shopper and computes insights such as Top Shopper.</a:t>
            </a:r>
            <a:endParaRPr lang="en-US" sz="1600" dirty="0"/>
          </a:p>
          <a:p>
            <a:pPr indent="0" marL="0">
              <a:spcAft>
                <a:spcPts val="1000"/>
              </a:spcAft>
              <a:buNone/>
            </a:pPr>
            <a:r>
              <a:rPr lang="en-US" sz="1600" b="1" dirty="0">
                <a:solidFill>
                  <a:schemeClr val="accent1"/>
                </a:solidFill>
              </a:rPr>
              <a:t>6  </a:t>
            </a:r>
            <a:pPr indent="0" marL="0">
              <a:spcAft>
                <a:spcPts val="1000"/>
              </a:spcAft>
              <a:buNone/>
            </a:pPr>
            <a:r>
              <a:rPr lang="en-US" sz="1600" dirty="0">
                <a:solidFill>
                  <a:schemeClr val="tx1"/>
                </a:solidFill>
              </a:rPr>
              <a:t>Reps and Agentforce Coworker see that profile on every case. The website and the Google ADK agent read the same profile for signed-in shoppers.</a:t>
            </a:r>
            <a:endParaRPr lang="en-US" sz="1600" dirty="0"/>
          </a:p>
          <a:p>
            <a:pPr indent="0" marL="0">
              <a:spcAft>
                <a:spcPts val="1000"/>
              </a:spcAft>
              <a:buNone/>
            </a:pPr>
            <a:r>
              <a:rPr lang="en-US" sz="1600" b="1" dirty="0">
                <a:solidFill>
                  <a:schemeClr val="accent1"/>
                </a:solidFill>
              </a:rPr>
              <a:t>7  </a:t>
            </a:r>
            <a:pPr indent="0" marL="0">
              <a:spcAft>
                <a:spcPts val="1000"/>
              </a:spcAft>
              <a:buNone/>
            </a:pPr>
            <a:r>
              <a:rPr lang="en-US" sz="1600" dirty="0">
                <a:solidFill>
                  <a:schemeClr val="tx1"/>
                </a:solidFill>
              </a:rPr>
              <a:t>When a shopper asks for a person, the agent opens the Case directly in Service Cloud and sends the handoff context to Data 360.</a:t>
            </a:r>
            <a:endParaRPr lang="en-US" sz="1600" dirty="0"/>
          </a:p>
          <a:p>
            <a:pPr indent="0" marL="0">
              <a:spcAft>
                <a:spcPts val="1000"/>
              </a:spcAft>
              <a:buNone/>
            </a:pPr>
            <a:r>
              <a:rPr lang="en-US" sz="1600" b="1" dirty="0">
                <a:solidFill>
                  <a:schemeClr val="accent1"/>
                </a:solidFill>
              </a:rPr>
              <a:t>8  </a:t>
            </a:r>
            <a:pPr indent="0" marL="0">
              <a:spcAft>
                <a:spcPts val="1000"/>
              </a:spcAft>
              <a:buNone/>
            </a:pPr>
            <a:r>
              <a:rPr lang="en-US" sz="1600" dirty="0">
                <a:solidFill>
                  <a:schemeClr val="tx1"/>
                </a:solidFill>
              </a:rPr>
              <a:t>Data 360 shares profiles, web activity and insights back to Snowflake for analysts, zero copy.</a:t>
            </a:r>
            <a:endParaRPr lang="en-US" sz="1600" dirty="0"/>
          </a:p>
          <a:p>
            <a:pPr indent="0" marL="0">
              <a:spcAft>
                <a:spcPts val="1000"/>
              </a:spcAft>
              <a:buNone/>
            </a:pPr>
            <a:r>
              <a:rPr lang="en-US" sz="1600" b="1" dirty="0">
                <a:solidFill>
                  <a:schemeClr val="accent4"/>
                </a:solidFill>
              </a:rPr>
              <a:t>9  </a:t>
            </a:r>
            <a:pPr indent="0" marL="0">
              <a:spcAft>
                <a:spcPts val="1000"/>
              </a:spcAft>
              <a:buNone/>
            </a:pPr>
            <a:r>
              <a:rPr lang="en-US" sz="1600" dirty="0">
                <a:solidFill>
                  <a:schemeClr val="tx1"/>
                </a:solidFill>
              </a:rPr>
              <a:t>Checkout and live stock stay on the ERP: only it can reserve the last unit.</a:t>
            </a:r>
            <a:endParaRPr lang="en-US" sz="1600" dirty="0"/>
          </a:p>
        </p:txBody>
      </p:sp>
      <p:sp>
        <p:nvSpPr>
          <p:cNvPr id="5"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t"/>
          <a:lstStyle/>
          <a:p>
            <a:pPr algn="l" indent="0" marL="0">
              <a:buNone/>
            </a:pPr>
            <a:r>
              <a:rPr lang="en-US" sz="3600" b="1" dirty="0">
                <a:solidFill>
                  <a:schemeClr val="tx2"/>
                </a:solidFill>
              </a:rPr>
              <a:t>Shopper &amp; Rep Experience | Web + Agent</a:t>
            </a:r>
            <a:endParaRPr lang="en-US" sz="36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600" i="1" dirty="0">
                <a:solidFill>
                  <a:schemeClr val="accent4"/>
                </a:solidFill>
              </a:rPr>
              <a:t>Our shopper, Maya, ordered groceries for tonight's curry on the Westerly site, then noticed the garam masala is missing. Maya asks the Westerly shopping agent for help, and a rep picks up from there.</a:t>
            </a:r>
            <a:endParaRPr lang="en-US" sz="1600" dirty="0"/>
          </a:p>
        </p:txBody>
      </p:sp>
      <p:sp>
        <p:nvSpPr>
          <p:cNvPr id="4" name="Journey glow"/>
          <p:cNvSpPr/>
          <p:nvPr/>
        </p:nvSpPr>
        <p:spPr>
          <a:xfrm>
            <a:off x="0" y="0"/>
            <a:ext cx="12191695" cy="6858000"/>
          </a:xfrm>
          <a:custGeom>
            <a:avLst/>
            <a:gdLst/>
            <a:ahLst/>
            <a:cxnLst/>
            <a:rect l="l" t="t" r="r" b="b"/>
            <a:pathLst>
              <a:path w="12191695" h="6858000">
                <a:moveTo>
                  <a:pt x="411480" y="3840480"/>
                </a:moveTo>
                <a:cubicBezTo>
                  <a:pt x="464820" y="4000500"/>
                  <a:pt x="548640" y="4564380"/>
                  <a:pt x="731520" y="4800600"/>
                </a:cubicBezTo>
                <a:cubicBezTo>
                  <a:pt x="914400" y="5036820"/>
                  <a:pt x="1264920" y="5242560"/>
                  <a:pt x="1508760" y="5257800"/>
                </a:cubicBezTo>
                <a:cubicBezTo>
                  <a:pt x="1752600" y="5273040"/>
                  <a:pt x="2103120" y="5090160"/>
                  <a:pt x="2194560" y="4892040"/>
                </a:cubicBezTo>
                <a:cubicBezTo>
                  <a:pt x="2286000" y="4693920"/>
                  <a:pt x="1958340" y="4366260"/>
                  <a:pt x="2057400" y="4069080"/>
                </a:cubicBezTo>
                <a:cubicBezTo>
                  <a:pt x="2156460" y="3771900"/>
                  <a:pt x="2552700" y="3253740"/>
                  <a:pt x="2788920" y="3108960"/>
                </a:cubicBezTo>
                <a:cubicBezTo>
                  <a:pt x="3025140" y="2964180"/>
                  <a:pt x="3314700" y="3063240"/>
                  <a:pt x="3474720" y="3200400"/>
                </a:cubicBezTo>
                <a:cubicBezTo>
                  <a:pt x="3634740" y="3337560"/>
                  <a:pt x="3749040" y="3703320"/>
                  <a:pt x="3749040" y="3931920"/>
                </a:cubicBezTo>
                <a:cubicBezTo>
                  <a:pt x="3749040" y="4160520"/>
                  <a:pt x="3421380" y="4351020"/>
                  <a:pt x="3474720" y="4572000"/>
                </a:cubicBezTo>
                <a:cubicBezTo>
                  <a:pt x="3528060" y="4792980"/>
                  <a:pt x="3848100" y="5189220"/>
                  <a:pt x="4069080" y="5257800"/>
                </a:cubicBezTo>
                <a:cubicBezTo>
                  <a:pt x="4290060" y="5326380"/>
                  <a:pt x="4655820" y="5173980"/>
                  <a:pt x="4800600" y="4983480"/>
                </a:cubicBezTo>
                <a:cubicBezTo>
                  <a:pt x="4945380" y="4792980"/>
                  <a:pt x="4846320" y="4434840"/>
                  <a:pt x="4937760" y="4114800"/>
                </a:cubicBezTo>
                <a:cubicBezTo>
                  <a:pt x="5029200" y="3794760"/>
                  <a:pt x="5158740" y="3215640"/>
                  <a:pt x="5349240" y="3063240"/>
                </a:cubicBezTo>
                <a:cubicBezTo>
                  <a:pt x="5539740" y="2910840"/>
                  <a:pt x="5928360" y="3017520"/>
                  <a:pt x="6080760" y="3200400"/>
                </a:cubicBezTo>
                <a:cubicBezTo>
                  <a:pt x="6233160" y="3383280"/>
                  <a:pt x="6172200" y="3825240"/>
                  <a:pt x="6263640" y="4160520"/>
                </a:cubicBezTo>
                <a:cubicBezTo>
                  <a:pt x="6355080" y="4495800"/>
                  <a:pt x="6446520" y="5059680"/>
                  <a:pt x="6629400" y="5212080"/>
                </a:cubicBezTo>
                <a:cubicBezTo>
                  <a:pt x="6812280" y="5364480"/>
                  <a:pt x="7193280" y="5219700"/>
                  <a:pt x="7360920" y="5074920"/>
                </a:cubicBezTo>
                <a:cubicBezTo>
                  <a:pt x="7528560" y="4930140"/>
                  <a:pt x="7635240" y="4572000"/>
                  <a:pt x="7635240" y="4343400"/>
                </a:cubicBezTo>
                <a:cubicBezTo>
                  <a:pt x="7635240" y="4114800"/>
                  <a:pt x="7315200" y="3909060"/>
                  <a:pt x="7360920" y="3703320"/>
                </a:cubicBezTo>
                <a:cubicBezTo>
                  <a:pt x="7406640" y="3497580"/>
                  <a:pt x="7688580" y="3192780"/>
                  <a:pt x="7909560" y="3108960"/>
                </a:cubicBezTo>
                <a:cubicBezTo>
                  <a:pt x="8130540" y="3025140"/>
                  <a:pt x="8526780" y="3048000"/>
                  <a:pt x="8686800" y="3200400"/>
                </a:cubicBezTo>
                <a:cubicBezTo>
                  <a:pt x="8846820" y="3352800"/>
                  <a:pt x="8877300" y="3779520"/>
                  <a:pt x="8869680" y="4023360"/>
                </a:cubicBezTo>
                <a:cubicBezTo>
                  <a:pt x="8862060" y="4267200"/>
                  <a:pt x="8587740" y="4457700"/>
                  <a:pt x="8641080" y="4663440"/>
                </a:cubicBezTo>
                <a:cubicBezTo>
                  <a:pt x="8694420" y="4869180"/>
                  <a:pt x="8983980" y="5204460"/>
                  <a:pt x="9189720" y="5257800"/>
                </a:cubicBezTo>
                <a:cubicBezTo>
                  <a:pt x="9395460" y="5311140"/>
                  <a:pt x="9738360" y="5181600"/>
                  <a:pt x="9875520" y="4983480"/>
                </a:cubicBezTo>
                <a:cubicBezTo>
                  <a:pt x="10012680" y="4785360"/>
                  <a:pt x="9913620" y="4381500"/>
                  <a:pt x="10012680" y="4069080"/>
                </a:cubicBezTo>
                <a:cubicBezTo>
                  <a:pt x="10111740" y="3756660"/>
                  <a:pt x="10271760" y="3261360"/>
                  <a:pt x="10469880" y="3108960"/>
                </a:cubicBezTo>
                <a:cubicBezTo>
                  <a:pt x="10668000" y="2956560"/>
                  <a:pt x="10995660" y="3063240"/>
                  <a:pt x="11201400" y="3154680"/>
                </a:cubicBezTo>
                <a:cubicBezTo>
                  <a:pt x="11407140" y="3246120"/>
                  <a:pt x="11620500" y="3573780"/>
                  <a:pt x="11704320" y="3657600"/>
                </a:cubicBezTo>
              </a:path>
            </a:pathLst>
          </a:custGeom>
          <a:solidFill>
            <a:schemeClr val="bg1">
              <a:alpha val="0"/>
            </a:schemeClr>
          </a:solidFill>
          <a:ln w="254000">
            <a:solidFill>
              <a:schemeClr val="accent1">
                <a:alpha val="18000"/>
              </a:schemeClr>
            </a:solidFill>
            <a:prstDash val="solid"/>
          </a:ln>
        </p:spPr>
      </p:sp>
      <p:sp>
        <p:nvSpPr>
          <p:cNvPr id="5" name="Journey path"/>
          <p:cNvSpPr/>
          <p:nvPr/>
        </p:nvSpPr>
        <p:spPr>
          <a:xfrm>
            <a:off x="0" y="0"/>
            <a:ext cx="12191695" cy="6858000"/>
          </a:xfrm>
          <a:custGeom>
            <a:avLst/>
            <a:gdLst/>
            <a:ahLst/>
            <a:cxnLst/>
            <a:rect l="l" t="t" r="r" b="b"/>
            <a:pathLst>
              <a:path w="12191695" h="6858000">
                <a:moveTo>
                  <a:pt x="411480" y="3840480"/>
                </a:moveTo>
                <a:cubicBezTo>
                  <a:pt x="464820" y="4000500"/>
                  <a:pt x="548640" y="4564380"/>
                  <a:pt x="731520" y="4800600"/>
                </a:cubicBezTo>
                <a:cubicBezTo>
                  <a:pt x="914400" y="5036820"/>
                  <a:pt x="1264920" y="5242560"/>
                  <a:pt x="1508760" y="5257800"/>
                </a:cubicBezTo>
                <a:cubicBezTo>
                  <a:pt x="1752600" y="5273040"/>
                  <a:pt x="2103120" y="5090160"/>
                  <a:pt x="2194560" y="4892040"/>
                </a:cubicBezTo>
                <a:cubicBezTo>
                  <a:pt x="2286000" y="4693920"/>
                  <a:pt x="1958340" y="4366260"/>
                  <a:pt x="2057400" y="4069080"/>
                </a:cubicBezTo>
                <a:cubicBezTo>
                  <a:pt x="2156460" y="3771900"/>
                  <a:pt x="2552700" y="3253740"/>
                  <a:pt x="2788920" y="3108960"/>
                </a:cubicBezTo>
                <a:cubicBezTo>
                  <a:pt x="3025140" y="2964180"/>
                  <a:pt x="3314700" y="3063240"/>
                  <a:pt x="3474720" y="3200400"/>
                </a:cubicBezTo>
                <a:cubicBezTo>
                  <a:pt x="3634740" y="3337560"/>
                  <a:pt x="3749040" y="3703320"/>
                  <a:pt x="3749040" y="3931920"/>
                </a:cubicBezTo>
                <a:cubicBezTo>
                  <a:pt x="3749040" y="4160520"/>
                  <a:pt x="3421380" y="4351020"/>
                  <a:pt x="3474720" y="4572000"/>
                </a:cubicBezTo>
                <a:cubicBezTo>
                  <a:pt x="3528060" y="4792980"/>
                  <a:pt x="3848100" y="5189220"/>
                  <a:pt x="4069080" y="5257800"/>
                </a:cubicBezTo>
                <a:cubicBezTo>
                  <a:pt x="4290060" y="5326380"/>
                  <a:pt x="4655820" y="5173980"/>
                  <a:pt x="4800600" y="4983480"/>
                </a:cubicBezTo>
                <a:cubicBezTo>
                  <a:pt x="4945380" y="4792980"/>
                  <a:pt x="4846320" y="4434840"/>
                  <a:pt x="4937760" y="4114800"/>
                </a:cubicBezTo>
                <a:cubicBezTo>
                  <a:pt x="5029200" y="3794760"/>
                  <a:pt x="5158740" y="3215640"/>
                  <a:pt x="5349240" y="3063240"/>
                </a:cubicBezTo>
                <a:cubicBezTo>
                  <a:pt x="5539740" y="2910840"/>
                  <a:pt x="5928360" y="3017520"/>
                  <a:pt x="6080760" y="3200400"/>
                </a:cubicBezTo>
                <a:cubicBezTo>
                  <a:pt x="6233160" y="3383280"/>
                  <a:pt x="6172200" y="3825240"/>
                  <a:pt x="6263640" y="4160520"/>
                </a:cubicBezTo>
                <a:cubicBezTo>
                  <a:pt x="6355080" y="4495800"/>
                  <a:pt x="6446520" y="5059680"/>
                  <a:pt x="6629400" y="5212080"/>
                </a:cubicBezTo>
                <a:cubicBezTo>
                  <a:pt x="6812280" y="5364480"/>
                  <a:pt x="7193280" y="5219700"/>
                  <a:pt x="7360920" y="5074920"/>
                </a:cubicBezTo>
                <a:cubicBezTo>
                  <a:pt x="7528560" y="4930140"/>
                  <a:pt x="7635240" y="4572000"/>
                  <a:pt x="7635240" y="4343400"/>
                </a:cubicBezTo>
                <a:cubicBezTo>
                  <a:pt x="7635240" y="4114800"/>
                  <a:pt x="7315200" y="3909060"/>
                  <a:pt x="7360920" y="3703320"/>
                </a:cubicBezTo>
                <a:cubicBezTo>
                  <a:pt x="7406640" y="3497580"/>
                  <a:pt x="7688580" y="3192780"/>
                  <a:pt x="7909560" y="3108960"/>
                </a:cubicBezTo>
                <a:cubicBezTo>
                  <a:pt x="8130540" y="3025140"/>
                  <a:pt x="8526780" y="3048000"/>
                  <a:pt x="8686800" y="3200400"/>
                </a:cubicBezTo>
                <a:cubicBezTo>
                  <a:pt x="8846820" y="3352800"/>
                  <a:pt x="8877300" y="3779520"/>
                  <a:pt x="8869680" y="4023360"/>
                </a:cubicBezTo>
                <a:cubicBezTo>
                  <a:pt x="8862060" y="4267200"/>
                  <a:pt x="8587740" y="4457700"/>
                  <a:pt x="8641080" y="4663440"/>
                </a:cubicBezTo>
                <a:cubicBezTo>
                  <a:pt x="8694420" y="4869180"/>
                  <a:pt x="8983980" y="5204460"/>
                  <a:pt x="9189720" y="5257800"/>
                </a:cubicBezTo>
                <a:cubicBezTo>
                  <a:pt x="9395460" y="5311140"/>
                  <a:pt x="9738360" y="5181600"/>
                  <a:pt x="9875520" y="4983480"/>
                </a:cubicBezTo>
                <a:cubicBezTo>
                  <a:pt x="10012680" y="4785360"/>
                  <a:pt x="9913620" y="4381500"/>
                  <a:pt x="10012680" y="4069080"/>
                </a:cubicBezTo>
                <a:cubicBezTo>
                  <a:pt x="10111740" y="3756660"/>
                  <a:pt x="10271760" y="3261360"/>
                  <a:pt x="10469880" y="3108960"/>
                </a:cubicBezTo>
                <a:cubicBezTo>
                  <a:pt x="10668000" y="2956560"/>
                  <a:pt x="10995660" y="3063240"/>
                  <a:pt x="11201400" y="3154680"/>
                </a:cubicBezTo>
                <a:cubicBezTo>
                  <a:pt x="11407140" y="3246120"/>
                  <a:pt x="11620500" y="3573780"/>
                  <a:pt x="11704320" y="3657600"/>
                </a:cubicBezTo>
              </a:path>
            </a:pathLst>
          </a:custGeom>
          <a:solidFill>
            <a:schemeClr val="bg1">
              <a:alpha val="0"/>
            </a:schemeClr>
          </a:solidFill>
          <a:ln w="114300">
            <a:solidFill>
              <a:schemeClr val="accent1"/>
            </a:solidFill>
            <a:prstDash val="solid"/>
          </a:ln>
        </p:spPr>
      </p:sp>
      <p:sp>
        <p:nvSpPr>
          <p:cNvPr id="6" name="stop 1 ring"/>
          <p:cNvSpPr/>
          <p:nvPr/>
        </p:nvSpPr>
        <p:spPr>
          <a:xfrm>
            <a:off x="1234440" y="498348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7" name="stop 1"/>
          <p:cNvSpPr/>
          <p:nvPr/>
        </p:nvSpPr>
        <p:spPr>
          <a:xfrm>
            <a:off x="1280160" y="5029200"/>
            <a:ext cx="457200" cy="457200"/>
          </a:xfrm>
          <a:prstGeom prst="ellipse">
            <a:avLst/>
          </a:prstGeom>
          <a:solidFill>
            <a:schemeClr val="accent2"/>
          </a:solidFill>
          <a:ln w="25400">
            <a:solidFill>
              <a:schemeClr val="bg1"/>
            </a:solidFill>
            <a:prstDash val="solid"/>
          </a:ln>
        </p:spPr>
      </p:sp>
      <p:sp>
        <p:nvSpPr>
          <p:cNvPr id="8" name="stop 1 number"/>
          <p:cNvSpPr txBox="1"/>
          <p:nvPr/>
        </p:nvSpPr>
        <p:spPr>
          <a:xfrm>
            <a:off x="1280160" y="50292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stop 1 text"/>
          <p:cNvSpPr txBox="1"/>
          <p:nvPr/>
        </p:nvSpPr>
        <p:spPr>
          <a:xfrm>
            <a:off x="365760" y="5586984"/>
            <a:ext cx="2331720" cy="768096"/>
          </a:xfrm>
          <a:prstGeom prst="rect">
            <a:avLst/>
          </a:prstGeom>
          <a:noFill/>
          <a:ln/>
        </p:spPr>
        <p:txBody>
          <a:bodyPr wrap="square" lIns="0" tIns="0" rIns="0" bIns="0" rtlCol="0" anchor="t"/>
          <a:lstStyle/>
          <a:p>
            <a:pPr algn="ctr" indent="0" marL="0">
              <a:buNone/>
            </a:pPr>
            <a:r>
              <a:rPr lang="en-US" sz="1100" b="1" dirty="0">
                <a:solidFill>
                  <a:schemeClr val="tx2"/>
                </a:solidFill>
              </a:rPr>
              <a:t>Maya signs in and shops. The </a:t>
            </a:r>
            <a:pPr algn="ctr" indent="0" marL="0">
              <a:buNone/>
            </a:pPr>
            <a:r>
              <a:rPr lang="en-US" sz="1100" b="1" dirty="0">
                <a:solidFill>
                  <a:schemeClr val="accent2"/>
                </a:solidFill>
              </a:rPr>
              <a:t>Data 360 Web SDK</a:t>
            </a:r>
            <a:pPr algn="ctr" indent="0" marL="0">
              <a:buNone/>
            </a:pPr>
            <a:r>
              <a:rPr lang="en-US" sz="1100" b="1" dirty="0">
                <a:solidFill>
                  <a:schemeClr val="tx2"/>
                </a:solidFill>
              </a:rPr>
              <a:t> streams every page view, search and cart add.</a:t>
            </a:r>
            <a:endParaRPr lang="en-US" sz="1100" dirty="0"/>
          </a:p>
        </p:txBody>
      </p:sp>
      <p:sp>
        <p:nvSpPr>
          <p:cNvPr id="10" name="stop 2 ring"/>
          <p:cNvSpPr/>
          <p:nvPr/>
        </p:nvSpPr>
        <p:spPr>
          <a:xfrm>
            <a:off x="2514600" y="283464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11" name="stop 2"/>
          <p:cNvSpPr/>
          <p:nvPr/>
        </p:nvSpPr>
        <p:spPr>
          <a:xfrm>
            <a:off x="2560320" y="2880360"/>
            <a:ext cx="457200" cy="457200"/>
          </a:xfrm>
          <a:prstGeom prst="ellipse">
            <a:avLst/>
          </a:prstGeom>
          <a:solidFill>
            <a:schemeClr val="accent3"/>
          </a:solidFill>
          <a:ln w="25400">
            <a:solidFill>
              <a:schemeClr val="bg1"/>
            </a:solidFill>
            <a:prstDash val="solid"/>
          </a:ln>
        </p:spPr>
      </p:sp>
      <p:sp>
        <p:nvSpPr>
          <p:cNvPr id="12" name="stop 2 number"/>
          <p:cNvSpPr txBox="1"/>
          <p:nvPr/>
        </p:nvSpPr>
        <p:spPr>
          <a:xfrm>
            <a:off x="2560320" y="28803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stop 2 text"/>
          <p:cNvSpPr txBox="1"/>
          <p:nvPr/>
        </p:nvSpPr>
        <p:spPr>
          <a:xfrm>
            <a:off x="1623060" y="1600200"/>
            <a:ext cx="2331720" cy="1179576"/>
          </a:xfrm>
          <a:prstGeom prst="rect">
            <a:avLst/>
          </a:prstGeom>
          <a:noFill/>
          <a:ln/>
        </p:spPr>
        <p:txBody>
          <a:bodyPr wrap="square" lIns="0" tIns="0" rIns="0" bIns="0" rtlCol="0" anchor="b"/>
          <a:lstStyle/>
          <a:p>
            <a:pPr algn="ctr" indent="0" marL="0">
              <a:buNone/>
            </a:pPr>
            <a:r>
              <a:rPr lang="en-US" sz="1100" b="1" dirty="0">
                <a:solidFill>
                  <a:schemeClr val="tx2"/>
                </a:solidFill>
              </a:rPr>
              <a:t>The </a:t>
            </a:r>
            <a:pPr algn="ctr" indent="0" marL="0">
              <a:buNone/>
            </a:pPr>
            <a:r>
              <a:rPr lang="en-US" sz="1100" b="1" dirty="0">
                <a:solidFill>
                  <a:schemeClr val="accent3"/>
                </a:solidFill>
              </a:rPr>
              <a:t>Google ADK agent</a:t>
            </a:r>
            <a:pPr algn="ctr" indent="0" marL="0">
              <a:buNone/>
            </a:pPr>
            <a:r>
              <a:rPr lang="en-US" sz="1100" b="1" dirty="0">
                <a:solidFill>
                  <a:schemeClr val="tx2"/>
                </a:solidFill>
              </a:rPr>
              <a:t> (Gemini) suggests a curry recipe, finds the ingredients in the catalog and adds them to the cart.</a:t>
            </a:r>
            <a:endParaRPr lang="en-US" sz="1100" dirty="0"/>
          </a:p>
        </p:txBody>
      </p:sp>
      <p:sp>
        <p:nvSpPr>
          <p:cNvPr id="14" name="stop 3 ring"/>
          <p:cNvSpPr/>
          <p:nvPr/>
        </p:nvSpPr>
        <p:spPr>
          <a:xfrm>
            <a:off x="3794760" y="498348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15" name="stop 3"/>
          <p:cNvSpPr/>
          <p:nvPr/>
        </p:nvSpPr>
        <p:spPr>
          <a:xfrm>
            <a:off x="3840480" y="5029200"/>
            <a:ext cx="457200" cy="457200"/>
          </a:xfrm>
          <a:prstGeom prst="ellipse">
            <a:avLst/>
          </a:prstGeom>
          <a:solidFill>
            <a:schemeClr val="accent2"/>
          </a:solidFill>
          <a:ln w="25400">
            <a:solidFill>
              <a:schemeClr val="bg1"/>
            </a:solidFill>
            <a:prstDash val="solid"/>
          </a:ln>
        </p:spPr>
      </p:sp>
      <p:sp>
        <p:nvSpPr>
          <p:cNvPr id="16" name="stop 3 number"/>
          <p:cNvSpPr txBox="1"/>
          <p:nvPr/>
        </p:nvSpPr>
        <p:spPr>
          <a:xfrm>
            <a:off x="3840480" y="50292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stop 3 text"/>
          <p:cNvSpPr txBox="1"/>
          <p:nvPr/>
        </p:nvSpPr>
        <p:spPr>
          <a:xfrm>
            <a:off x="2903220" y="5586984"/>
            <a:ext cx="2331720" cy="768096"/>
          </a:xfrm>
          <a:prstGeom prst="rect">
            <a:avLst/>
          </a:prstGeom>
          <a:noFill/>
          <a:ln/>
        </p:spPr>
        <p:txBody>
          <a:bodyPr wrap="square" lIns="0" tIns="0" rIns="0" bIns="0" rtlCol="0" anchor="t"/>
          <a:lstStyle/>
          <a:p>
            <a:pPr algn="ctr" indent="0" marL="0">
              <a:buNone/>
            </a:pPr>
            <a:r>
              <a:rPr lang="en-US" sz="1100" b="1" dirty="0">
                <a:solidFill>
                  <a:schemeClr val="tx2"/>
                </a:solidFill>
              </a:rPr>
              <a:t>Maya places the order. </a:t>
            </a:r>
            <a:pPr algn="ctr" indent="0" marL="0">
              <a:buNone/>
            </a:pPr>
            <a:r>
              <a:rPr lang="en-US" sz="1100" b="1" dirty="0">
                <a:solidFill>
                  <a:schemeClr val="accent2"/>
                </a:solidFill>
              </a:rPr>
              <a:t>Data 360</a:t>
            </a:r>
            <a:pPr algn="ctr" indent="0" marL="0">
              <a:buNone/>
            </a:pPr>
            <a:r>
              <a:rPr lang="en-US" sz="1100" b="1" dirty="0">
                <a:solidFill>
                  <a:schemeClr val="tx2"/>
                </a:solidFill>
              </a:rPr>
              <a:t> joins the web activity with the Snowflake order history (zero copy) into one </a:t>
            </a:r>
            <a:pPr algn="ctr" indent="0" marL="0">
              <a:buNone/>
            </a:pPr>
            <a:r>
              <a:rPr lang="en-US" sz="1100" b="1" dirty="0">
                <a:solidFill>
                  <a:schemeClr val="accent2"/>
                </a:solidFill>
              </a:rPr>
              <a:t>unified profile</a:t>
            </a:r>
            <a:pPr algn="ctr" indent="0" marL="0">
              <a:buNone/>
            </a:pPr>
            <a:r>
              <a:rPr lang="en-US" sz="1100" b="1" dirty="0">
                <a:solidFill>
                  <a:schemeClr val="tx2"/>
                </a:solidFill>
              </a:rPr>
              <a:t>: a Top Shopper.</a:t>
            </a:r>
            <a:endParaRPr lang="en-US" sz="1100" dirty="0"/>
          </a:p>
        </p:txBody>
      </p:sp>
      <p:sp>
        <p:nvSpPr>
          <p:cNvPr id="18" name="stop 4 ring"/>
          <p:cNvSpPr/>
          <p:nvPr/>
        </p:nvSpPr>
        <p:spPr>
          <a:xfrm>
            <a:off x="5074920" y="278892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19" name="stop 4 Google half"/>
          <p:cNvSpPr/>
          <p:nvPr/>
        </p:nvSpPr>
        <p:spPr>
          <a:xfrm>
            <a:off x="5120640" y="2834640"/>
            <a:ext cx="457200" cy="457200"/>
          </a:xfrm>
          <a:prstGeom prst="pie">
            <a:avLst>
              <a:gd name="adj1" fmla="val 8100000"/>
              <a:gd name="adj2" fmla="val 18900000"/>
            </a:avLst>
          </a:prstGeom>
          <a:solidFill>
            <a:schemeClr val="accent3"/>
          </a:solidFill>
          <a:ln w="12700">
            <a:solidFill>
              <a:schemeClr val="accent3"/>
            </a:solidFill>
            <a:prstDash val="solid"/>
          </a:ln>
        </p:spPr>
      </p:sp>
      <p:sp>
        <p:nvSpPr>
          <p:cNvPr id="20" name="stop 4 Salesforce half"/>
          <p:cNvSpPr/>
          <p:nvPr/>
        </p:nvSpPr>
        <p:spPr>
          <a:xfrm>
            <a:off x="5120640" y="2834640"/>
            <a:ext cx="457200" cy="457200"/>
          </a:xfrm>
          <a:prstGeom prst="pie">
            <a:avLst>
              <a:gd name="adj1" fmla="val 18900000"/>
              <a:gd name="adj2" fmla="val 8100000"/>
            </a:avLst>
          </a:prstGeom>
          <a:solidFill>
            <a:schemeClr val="accent2"/>
          </a:solidFill>
          <a:ln w="12700">
            <a:solidFill>
              <a:schemeClr val="accent2"/>
            </a:solidFill>
            <a:prstDash val="solid"/>
          </a:ln>
        </p:spPr>
      </p:sp>
      <p:sp>
        <p:nvSpPr>
          <p:cNvPr id="21" name="stop 4"/>
          <p:cNvSpPr/>
          <p:nvPr/>
        </p:nvSpPr>
        <p:spPr>
          <a:xfrm>
            <a:off x="5120640" y="2834640"/>
            <a:ext cx="457200" cy="457200"/>
          </a:xfrm>
          <a:prstGeom prst="ellipse">
            <a:avLst/>
          </a:prstGeom>
          <a:solidFill>
            <a:schemeClr val="bg1">
              <a:alpha val="0"/>
            </a:schemeClr>
          </a:solidFill>
          <a:ln w="25400">
            <a:solidFill>
              <a:schemeClr val="bg1"/>
            </a:solidFill>
            <a:prstDash val="solid"/>
          </a:ln>
        </p:spPr>
      </p:sp>
      <p:sp>
        <p:nvSpPr>
          <p:cNvPr id="22" name="stop 4 number"/>
          <p:cNvSpPr txBox="1"/>
          <p:nvPr/>
        </p:nvSpPr>
        <p:spPr>
          <a:xfrm>
            <a:off x="5120640" y="28346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stop 4 text"/>
          <p:cNvSpPr txBox="1"/>
          <p:nvPr/>
        </p:nvSpPr>
        <p:spPr>
          <a:xfrm>
            <a:off x="4183380" y="1600200"/>
            <a:ext cx="2331720" cy="1133856"/>
          </a:xfrm>
          <a:prstGeom prst="rect">
            <a:avLst/>
          </a:prstGeom>
          <a:noFill/>
          <a:ln/>
        </p:spPr>
        <p:txBody>
          <a:bodyPr wrap="square" lIns="0" tIns="0" rIns="0" bIns="0" rtlCol="0" anchor="b"/>
          <a:lstStyle/>
          <a:p>
            <a:pPr algn="ctr" indent="0" marL="0">
              <a:buNone/>
            </a:pPr>
            <a:r>
              <a:rPr lang="en-US" sz="1100" b="1" dirty="0">
                <a:solidFill>
                  <a:schemeClr val="tx2"/>
                </a:solidFill>
              </a:rPr>
              <a:t>Maya asks the </a:t>
            </a:r>
            <a:pPr algn="ctr" indent="0" marL="0">
              <a:buNone/>
            </a:pPr>
            <a:r>
              <a:rPr lang="en-US" sz="1100" b="1" dirty="0">
                <a:solidFill>
                  <a:schemeClr val="accent3"/>
                </a:solidFill>
              </a:rPr>
              <a:t>agent</a:t>
            </a:r>
            <a:pPr algn="ctr" indent="0" marL="0">
              <a:buNone/>
            </a:pPr>
            <a:r>
              <a:rPr lang="en-US" sz="1100" b="1" dirty="0">
                <a:solidFill>
                  <a:schemeClr val="tx2"/>
                </a:solidFill>
              </a:rPr>
              <a:t> to add garam masala. It confirms the order, then opens a </a:t>
            </a:r>
            <a:pPr algn="ctr" indent="0" marL="0">
              <a:buNone/>
            </a:pPr>
            <a:r>
              <a:rPr lang="en-US" sz="1100" b="1" dirty="0">
                <a:solidFill>
                  <a:schemeClr val="accent2"/>
                </a:solidFill>
              </a:rPr>
              <a:t>Case</a:t>
            </a:r>
            <a:pPr algn="ctr" indent="0" marL="0">
              <a:buNone/>
            </a:pPr>
            <a:r>
              <a:rPr lang="en-US" sz="1100" b="1" dirty="0">
                <a:solidFill>
                  <a:schemeClr val="tx2"/>
                </a:solidFill>
              </a:rPr>
              <a:t> in </a:t>
            </a:r>
            <a:pPr algn="ctr" indent="0" marL="0">
              <a:buNone/>
            </a:pPr>
            <a:r>
              <a:rPr lang="en-US" sz="1100" b="1" dirty="0">
                <a:solidFill>
                  <a:schemeClr val="accent2"/>
                </a:solidFill>
              </a:rPr>
              <a:t>Service Cloud</a:t>
            </a:r>
            <a:pPr algn="ctr" indent="0" marL="0">
              <a:buNone/>
            </a:pPr>
            <a:r>
              <a:rPr lang="en-US" sz="1100" b="1" dirty="0">
                <a:solidFill>
                  <a:schemeClr val="tx2"/>
                </a:solidFill>
              </a:rPr>
              <a:t> with the order ID and a chat summary.</a:t>
            </a:r>
            <a:endParaRPr lang="en-US" sz="1100" dirty="0"/>
          </a:p>
        </p:txBody>
      </p:sp>
      <p:sp>
        <p:nvSpPr>
          <p:cNvPr id="24" name="stop 5 ring"/>
          <p:cNvSpPr/>
          <p:nvPr/>
        </p:nvSpPr>
        <p:spPr>
          <a:xfrm>
            <a:off x="6355080" y="493776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25" name="stop 5"/>
          <p:cNvSpPr/>
          <p:nvPr/>
        </p:nvSpPr>
        <p:spPr>
          <a:xfrm>
            <a:off x="6400800" y="4983480"/>
            <a:ext cx="457200" cy="457200"/>
          </a:xfrm>
          <a:prstGeom prst="ellipse">
            <a:avLst/>
          </a:prstGeom>
          <a:solidFill>
            <a:schemeClr val="accent2"/>
          </a:solidFill>
          <a:ln w="25400">
            <a:solidFill>
              <a:schemeClr val="bg1"/>
            </a:solidFill>
            <a:prstDash val="solid"/>
          </a:ln>
        </p:spPr>
      </p:sp>
      <p:sp>
        <p:nvSpPr>
          <p:cNvPr id="26" name="stop 5 number"/>
          <p:cNvSpPr txBox="1"/>
          <p:nvPr/>
        </p:nvSpPr>
        <p:spPr>
          <a:xfrm>
            <a:off x="6400800" y="4983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7" name="stop 5 text"/>
          <p:cNvSpPr txBox="1"/>
          <p:nvPr/>
        </p:nvSpPr>
        <p:spPr>
          <a:xfrm>
            <a:off x="5463540" y="5541264"/>
            <a:ext cx="2331720" cy="813816"/>
          </a:xfrm>
          <a:prstGeom prst="rect">
            <a:avLst/>
          </a:prstGeom>
          <a:noFill/>
          <a:ln/>
        </p:spPr>
        <p:txBody>
          <a:bodyPr wrap="square" lIns="0" tIns="0" rIns="0" bIns="0" rtlCol="0" anchor="t"/>
          <a:lstStyle/>
          <a:p>
            <a:pPr algn="ctr" indent="0" marL="0">
              <a:buNone/>
            </a:pPr>
            <a:r>
              <a:rPr lang="en-US" sz="1100" b="1" dirty="0">
                <a:solidFill>
                  <a:schemeClr val="accent2"/>
                </a:solidFill>
              </a:rPr>
              <a:t>Case routing</a:t>
            </a:r>
            <a:pPr algn="ctr" indent="0" marL="0">
              <a:buNone/>
            </a:pPr>
            <a:r>
              <a:rPr lang="en-US" sz="1100" b="1" dirty="0">
                <a:solidFill>
                  <a:schemeClr val="tx2"/>
                </a:solidFill>
              </a:rPr>
              <a:t> sends the case to the </a:t>
            </a:r>
            <a:pPr algn="ctr" indent="0" marL="0">
              <a:buNone/>
            </a:pPr>
            <a:r>
              <a:rPr lang="en-US" sz="1100" b="1" dirty="0">
                <a:solidFill>
                  <a:schemeClr val="accent2"/>
                </a:solidFill>
              </a:rPr>
              <a:t>Westerly Support</a:t>
            </a:r>
            <a:pPr algn="ctr" indent="0" marL="0">
              <a:buNone/>
            </a:pPr>
            <a:r>
              <a:rPr lang="en-US" sz="1100" b="1" dirty="0">
                <a:solidFill>
                  <a:schemeClr val="tx2"/>
                </a:solidFill>
              </a:rPr>
              <a:t> queue, and it lands with Jordan in the </a:t>
            </a:r>
            <a:pPr algn="ctr" indent="0" marL="0">
              <a:buNone/>
            </a:pPr>
            <a:r>
              <a:rPr lang="en-US" sz="1100" b="1" dirty="0">
                <a:solidFill>
                  <a:schemeClr val="accent2"/>
                </a:solidFill>
              </a:rPr>
              <a:t>Service Console</a:t>
            </a:r>
            <a:pPr algn="ctr" indent="0" marL="0">
              <a:buNone/>
            </a:pPr>
            <a:r>
              <a:rPr lang="en-US" sz="1100" b="1" dirty="0">
                <a:solidFill>
                  <a:schemeClr val="tx2"/>
                </a:solidFill>
              </a:rPr>
              <a:t>.</a:t>
            </a:r>
            <a:endParaRPr lang="en-US" sz="1100" dirty="0"/>
          </a:p>
        </p:txBody>
      </p:sp>
      <p:sp>
        <p:nvSpPr>
          <p:cNvPr id="28" name="stop 6 ring"/>
          <p:cNvSpPr/>
          <p:nvPr/>
        </p:nvSpPr>
        <p:spPr>
          <a:xfrm>
            <a:off x="7635240" y="283464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29" name="stop 6"/>
          <p:cNvSpPr/>
          <p:nvPr/>
        </p:nvSpPr>
        <p:spPr>
          <a:xfrm>
            <a:off x="7680960" y="2880360"/>
            <a:ext cx="457200" cy="457200"/>
          </a:xfrm>
          <a:prstGeom prst="ellipse">
            <a:avLst/>
          </a:prstGeom>
          <a:solidFill>
            <a:schemeClr val="accent2"/>
          </a:solidFill>
          <a:ln w="25400">
            <a:solidFill>
              <a:schemeClr val="bg1"/>
            </a:solidFill>
            <a:prstDash val="solid"/>
          </a:ln>
        </p:spPr>
      </p:sp>
      <p:sp>
        <p:nvSpPr>
          <p:cNvPr id="30" name="stop 6 number"/>
          <p:cNvSpPr txBox="1"/>
          <p:nvPr/>
        </p:nvSpPr>
        <p:spPr>
          <a:xfrm>
            <a:off x="7680960" y="28803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stop 6 text"/>
          <p:cNvSpPr txBox="1"/>
          <p:nvPr/>
        </p:nvSpPr>
        <p:spPr>
          <a:xfrm>
            <a:off x="6743700" y="1600200"/>
            <a:ext cx="2331720" cy="1179576"/>
          </a:xfrm>
          <a:prstGeom prst="rect">
            <a:avLst/>
          </a:prstGeom>
          <a:noFill/>
          <a:ln/>
        </p:spPr>
        <p:txBody>
          <a:bodyPr wrap="square" lIns="0" tIns="0" rIns="0" bIns="0" rtlCol="0" anchor="b"/>
          <a:lstStyle/>
          <a:p>
            <a:pPr algn="ctr" indent="0" marL="0">
              <a:buNone/>
            </a:pPr>
            <a:r>
              <a:rPr lang="en-US" sz="1100" b="1" dirty="0">
                <a:solidFill>
                  <a:schemeClr val="tx2"/>
                </a:solidFill>
              </a:rPr>
              <a:t>Jordan sees the </a:t>
            </a:r>
            <a:pPr algn="ctr" indent="0" marL="0">
              <a:buNone/>
            </a:pPr>
            <a:r>
              <a:rPr lang="en-US" sz="1100" b="1" dirty="0">
                <a:solidFill>
                  <a:schemeClr val="accent2"/>
                </a:solidFill>
              </a:rPr>
              <a:t>Westerly panel</a:t>
            </a:r>
            <a:pPr algn="ctr" indent="0" marL="0">
              <a:buNone/>
            </a:pPr>
            <a:r>
              <a:rPr lang="en-US" sz="1100" b="1" dirty="0">
                <a:solidFill>
                  <a:schemeClr val="tx2"/>
                </a:solidFill>
              </a:rPr>
              <a:t>: the agent's summary, the unified profile, recent orders and </a:t>
            </a:r>
            <a:pPr algn="ctr" indent="0" marL="0">
              <a:buNone/>
            </a:pPr>
            <a:r>
              <a:rPr lang="en-US" sz="1100" b="1" dirty="0">
                <a:solidFill>
                  <a:schemeClr val="accent2"/>
                </a:solidFill>
              </a:rPr>
              <a:t>Website Activity</a:t>
            </a:r>
            <a:pPr algn="ctr" indent="0" marL="0">
              <a:buNone/>
            </a:pPr>
            <a:r>
              <a:rPr lang="en-US" sz="1100" b="1" dirty="0">
                <a:solidFill>
                  <a:schemeClr val="tx2"/>
                </a:solidFill>
              </a:rPr>
              <a:t>.</a:t>
            </a:r>
            <a:endParaRPr lang="en-US" sz="1100" dirty="0"/>
          </a:p>
        </p:txBody>
      </p:sp>
      <p:sp>
        <p:nvSpPr>
          <p:cNvPr id="32" name="stop 7 ring"/>
          <p:cNvSpPr/>
          <p:nvPr/>
        </p:nvSpPr>
        <p:spPr>
          <a:xfrm>
            <a:off x="8915400" y="498348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33" name="stop 7"/>
          <p:cNvSpPr/>
          <p:nvPr/>
        </p:nvSpPr>
        <p:spPr>
          <a:xfrm>
            <a:off x="8961120" y="5029200"/>
            <a:ext cx="457200" cy="457200"/>
          </a:xfrm>
          <a:prstGeom prst="ellipse">
            <a:avLst/>
          </a:prstGeom>
          <a:solidFill>
            <a:schemeClr val="accent2"/>
          </a:solidFill>
          <a:ln w="25400">
            <a:solidFill>
              <a:schemeClr val="bg1"/>
            </a:solidFill>
            <a:prstDash val="solid"/>
          </a:ln>
        </p:spPr>
      </p:sp>
      <p:sp>
        <p:nvSpPr>
          <p:cNvPr id="34" name="stop 7 number"/>
          <p:cNvSpPr txBox="1"/>
          <p:nvPr/>
        </p:nvSpPr>
        <p:spPr>
          <a:xfrm>
            <a:off x="8961120" y="50292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5" name="stop 7 text"/>
          <p:cNvSpPr txBox="1"/>
          <p:nvPr/>
        </p:nvSpPr>
        <p:spPr>
          <a:xfrm>
            <a:off x="8023860" y="5586984"/>
            <a:ext cx="2331720" cy="768096"/>
          </a:xfrm>
          <a:prstGeom prst="rect">
            <a:avLst/>
          </a:prstGeom>
          <a:noFill/>
          <a:ln/>
        </p:spPr>
        <p:txBody>
          <a:bodyPr wrap="square" lIns="0" tIns="0" rIns="0" bIns="0" rtlCol="0" anchor="t"/>
          <a:lstStyle/>
          <a:p>
            <a:pPr algn="ctr" indent="0" marL="0">
              <a:buNone/>
            </a:pPr>
            <a:r>
              <a:rPr lang="en-US" sz="1100" b="1" dirty="0">
                <a:solidFill>
                  <a:schemeClr val="tx2"/>
                </a:solidFill>
              </a:rPr>
              <a:t>Jordan asks </a:t>
            </a:r>
            <a:pPr algn="ctr" indent="0" marL="0">
              <a:buNone/>
            </a:pPr>
            <a:r>
              <a:rPr lang="en-US" sz="1100" b="1" dirty="0">
                <a:solidFill>
                  <a:schemeClr val="accent2"/>
                </a:solidFill>
              </a:rPr>
              <a:t>Agentforce Coworker</a:t>
            </a:r>
            <a:pPr algn="ctr" indent="0" marL="0">
              <a:buNone/>
            </a:pPr>
            <a:r>
              <a:rPr lang="en-US" sz="1100" b="1" dirty="0">
                <a:solidFill>
                  <a:schemeClr val="tx2"/>
                </a:solidFill>
              </a:rPr>
              <a:t> if the item can be added. Coworker sees the order is not yet picked and cites the </a:t>
            </a:r>
            <a:pPr algn="ctr" indent="0" marL="0">
              <a:buNone/>
            </a:pPr>
            <a:r>
              <a:rPr lang="en-US" sz="1100" b="1" dirty="0">
                <a:solidFill>
                  <a:schemeClr val="accent2"/>
                </a:solidFill>
              </a:rPr>
              <a:t>knowledge article</a:t>
            </a:r>
            <a:pPr algn="ctr" indent="0" marL="0">
              <a:buNone/>
            </a:pPr>
            <a:r>
              <a:rPr lang="en-US" sz="1100" b="1" dirty="0">
                <a:solidFill>
                  <a:schemeClr val="tx2"/>
                </a:solidFill>
              </a:rPr>
              <a:t>.</a:t>
            </a:r>
            <a:endParaRPr lang="en-US" sz="1100" dirty="0"/>
          </a:p>
        </p:txBody>
      </p:sp>
      <p:sp>
        <p:nvSpPr>
          <p:cNvPr id="36" name="stop 8 ring"/>
          <p:cNvSpPr/>
          <p:nvPr/>
        </p:nvSpPr>
        <p:spPr>
          <a:xfrm>
            <a:off x="10195560" y="2834640"/>
            <a:ext cx="548640" cy="548640"/>
          </a:xfrm>
          <a:prstGeom prst="ellipse">
            <a:avLst/>
          </a:prstGeom>
          <a:solidFill>
            <a:schemeClr val="bg1"/>
          </a:solidFill>
          <a:ln w="12700">
            <a:solidFill>
              <a:schemeClr val="bg1"/>
            </a:solidFill>
            <a:prstDash val="solid"/>
          </a:ln>
          <a:effectLst>
            <a:outerShdw sx="100000" sy="100000" kx="0" ky="0" algn="bl" rotWithShape="0" blurRad="63500" dist="19050" dir="5400000">
              <a:srgbClr val="000000">
                <a:alpha val="30000"/>
              </a:srgbClr>
            </a:outerShdw>
          </a:effectLst>
        </p:spPr>
      </p:sp>
      <p:sp>
        <p:nvSpPr>
          <p:cNvPr id="37" name="stop 8"/>
          <p:cNvSpPr/>
          <p:nvPr/>
        </p:nvSpPr>
        <p:spPr>
          <a:xfrm>
            <a:off x="10241280" y="2880360"/>
            <a:ext cx="457200" cy="457200"/>
          </a:xfrm>
          <a:prstGeom prst="ellipse">
            <a:avLst/>
          </a:prstGeom>
          <a:solidFill>
            <a:schemeClr val="accent2"/>
          </a:solidFill>
          <a:ln w="25400">
            <a:solidFill>
              <a:schemeClr val="bg1"/>
            </a:solidFill>
            <a:prstDash val="solid"/>
          </a:ln>
        </p:spPr>
      </p:sp>
      <p:sp>
        <p:nvSpPr>
          <p:cNvPr id="38" name="stop 8 number"/>
          <p:cNvSpPr txBox="1"/>
          <p:nvPr/>
        </p:nvSpPr>
        <p:spPr>
          <a:xfrm>
            <a:off x="10241280" y="288036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39" name="stop 8 text"/>
          <p:cNvSpPr txBox="1"/>
          <p:nvPr/>
        </p:nvSpPr>
        <p:spPr>
          <a:xfrm>
            <a:off x="9304020" y="1600200"/>
            <a:ext cx="2331720" cy="1179576"/>
          </a:xfrm>
          <a:prstGeom prst="rect">
            <a:avLst/>
          </a:prstGeom>
          <a:noFill/>
          <a:ln/>
        </p:spPr>
        <p:txBody>
          <a:bodyPr wrap="square" lIns="0" tIns="0" rIns="0" bIns="0" rtlCol="0" anchor="b"/>
          <a:lstStyle/>
          <a:p>
            <a:pPr algn="ctr" indent="0" marL="0">
              <a:buNone/>
            </a:pPr>
            <a:r>
              <a:rPr lang="en-US" sz="1100" b="1" dirty="0">
                <a:solidFill>
                  <a:schemeClr val="tx2"/>
                </a:solidFill>
              </a:rPr>
              <a:t>Jordan confirms the garam masala can be added, updates Maya and </a:t>
            </a:r>
            <a:pPr algn="ctr" indent="0" marL="0">
              <a:buNone/>
            </a:pPr>
            <a:r>
              <a:rPr lang="en-US" sz="1100" b="1" dirty="0">
                <a:solidFill>
                  <a:schemeClr val="accent2"/>
                </a:solidFill>
              </a:rPr>
              <a:t>closes the case</a:t>
            </a:r>
            <a:pPr algn="ctr" indent="0" marL="0">
              <a:buNone/>
            </a:pPr>
            <a:r>
              <a:rPr lang="en-US" sz="1100" b="1" dirty="0">
                <a:solidFill>
                  <a:schemeClr val="tx2"/>
                </a:solidFill>
              </a:rPr>
              <a:t>. The case history flows back to </a:t>
            </a:r>
            <a:pPr algn="ctr" indent="0" marL="0">
              <a:buNone/>
            </a:pPr>
            <a:r>
              <a:rPr lang="en-US" sz="1100" b="1" dirty="0">
                <a:solidFill>
                  <a:schemeClr val="accent2"/>
                </a:solidFill>
              </a:rPr>
              <a:t>Data 360</a:t>
            </a:r>
            <a:pPr algn="ctr" indent="0" marL="0">
              <a:buNone/>
            </a:pPr>
            <a:r>
              <a:rPr lang="en-US" sz="1100" b="1" dirty="0">
                <a:solidFill>
                  <a:schemeClr val="tx2"/>
                </a:solidFill>
              </a:rPr>
              <a:t>.</a:t>
            </a:r>
            <a:endParaRPr lang="en-US" sz="1100" dirty="0"/>
          </a:p>
        </p:txBody>
      </p:sp>
      <p:sp>
        <p:nvSpPr>
          <p:cNvPr id="40" name="Trail key label"/>
          <p:cNvSpPr/>
          <p:nvPr/>
        </p:nvSpPr>
        <p:spPr>
          <a:xfrm>
            <a:off x="10378440" y="4709160"/>
            <a:ext cx="1463040" cy="237744"/>
          </a:xfrm>
          <a:prstGeom prst="rect">
            <a:avLst/>
          </a:prstGeom>
          <a:solidFill>
            <a:schemeClr val="accent2"/>
          </a:solidFill>
          <a:ln w="12700">
            <a:solidFill>
              <a:schemeClr val="accent2"/>
            </a:solidFill>
            <a:prstDash val="solid"/>
          </a:ln>
        </p:spPr>
      </p:sp>
      <p:sp>
        <p:nvSpPr>
          <p:cNvPr id="41" name="Trail key title"/>
          <p:cNvSpPr txBox="1"/>
          <p:nvPr/>
        </p:nvSpPr>
        <p:spPr>
          <a:xfrm>
            <a:off x="10378440" y="4709160"/>
            <a:ext cx="1463040" cy="237744"/>
          </a:xfrm>
          <a:prstGeom prst="rect">
            <a:avLst/>
          </a:prstGeom>
          <a:noFill/>
          <a:ln/>
        </p:spPr>
        <p:txBody>
          <a:bodyPr wrap="square" lIns="0" tIns="0" rIns="0" bIns="0" rtlCol="0" anchor="ctr"/>
          <a:lstStyle/>
          <a:p>
            <a:pPr algn="ctr" indent="0" marL="0">
              <a:buNone/>
            </a:pPr>
            <a:r>
              <a:rPr lang="en-US" sz="900" b="1" dirty="0">
                <a:solidFill>
                  <a:schemeClr val="bg1"/>
                </a:solidFill>
              </a:rPr>
              <a:t>TRAIL KEY</a:t>
            </a:r>
            <a:endParaRPr lang="en-US" sz="900" dirty="0"/>
          </a:p>
        </p:txBody>
      </p:sp>
      <p:sp>
        <p:nvSpPr>
          <p:cNvPr id="42" name="key Google + Salesforce Google half"/>
          <p:cNvSpPr/>
          <p:nvPr/>
        </p:nvSpPr>
        <p:spPr>
          <a:xfrm>
            <a:off x="10396728" y="5047488"/>
            <a:ext cx="237744" cy="237744"/>
          </a:xfrm>
          <a:prstGeom prst="pie">
            <a:avLst>
              <a:gd name="adj1" fmla="val 8100000"/>
              <a:gd name="adj2" fmla="val 18900000"/>
            </a:avLst>
          </a:prstGeom>
          <a:solidFill>
            <a:schemeClr val="accent3"/>
          </a:solidFill>
          <a:ln w="12700">
            <a:solidFill>
              <a:schemeClr val="accent3"/>
            </a:solidFill>
            <a:prstDash val="solid"/>
          </a:ln>
        </p:spPr>
      </p:sp>
      <p:sp>
        <p:nvSpPr>
          <p:cNvPr id="43" name="key Google + Salesforce Salesforce half"/>
          <p:cNvSpPr/>
          <p:nvPr/>
        </p:nvSpPr>
        <p:spPr>
          <a:xfrm>
            <a:off x="10396728" y="5047488"/>
            <a:ext cx="237744" cy="237744"/>
          </a:xfrm>
          <a:prstGeom prst="pie">
            <a:avLst>
              <a:gd name="adj1" fmla="val 18900000"/>
              <a:gd name="adj2" fmla="val 8100000"/>
            </a:avLst>
          </a:prstGeom>
          <a:solidFill>
            <a:schemeClr val="accent2"/>
          </a:solidFill>
          <a:ln w="12700">
            <a:solidFill>
              <a:schemeClr val="accent2"/>
            </a:solidFill>
            <a:prstDash val="solid"/>
          </a:ln>
        </p:spPr>
      </p:sp>
      <p:sp>
        <p:nvSpPr>
          <p:cNvPr id="44" name="key Google + Salesforce"/>
          <p:cNvSpPr/>
          <p:nvPr/>
        </p:nvSpPr>
        <p:spPr>
          <a:xfrm>
            <a:off x="10396728" y="5047488"/>
            <a:ext cx="237744" cy="237744"/>
          </a:xfrm>
          <a:prstGeom prst="ellipse">
            <a:avLst/>
          </a:prstGeom>
          <a:solidFill>
            <a:schemeClr val="bg1">
              <a:alpha val="0"/>
            </a:schemeClr>
          </a:solidFill>
          <a:ln w="25400">
            <a:solidFill>
              <a:schemeClr val="bg1"/>
            </a:solidFill>
            <a:prstDash val="solid"/>
          </a:ln>
        </p:spPr>
      </p:sp>
      <p:sp>
        <p:nvSpPr>
          <p:cNvPr id="45" name="key Google + Salesforce text"/>
          <p:cNvSpPr txBox="1"/>
          <p:nvPr/>
        </p:nvSpPr>
        <p:spPr>
          <a:xfrm>
            <a:off x="10725912" y="5038344"/>
            <a:ext cx="1280160" cy="256032"/>
          </a:xfrm>
          <a:prstGeom prst="rect">
            <a:avLst/>
          </a:prstGeom>
          <a:noFill/>
          <a:ln/>
        </p:spPr>
        <p:txBody>
          <a:bodyPr wrap="square" lIns="0" tIns="0" rIns="0" bIns="0" rtlCol="0" anchor="ctr"/>
          <a:lstStyle/>
          <a:p>
            <a:pPr indent="0" marL="0">
              <a:buNone/>
            </a:pPr>
            <a:r>
              <a:rPr lang="en-US" sz="1000" dirty="0">
                <a:solidFill>
                  <a:schemeClr val="tx1"/>
                </a:solidFill>
              </a:rPr>
              <a:t>Google + Salesforce</a:t>
            </a:r>
            <a:endParaRPr lang="en-US" sz="1000" dirty="0"/>
          </a:p>
        </p:txBody>
      </p:sp>
      <p:sp>
        <p:nvSpPr>
          <p:cNvPr id="46" name="key Salesforce"/>
          <p:cNvSpPr/>
          <p:nvPr/>
        </p:nvSpPr>
        <p:spPr>
          <a:xfrm>
            <a:off x="10396728" y="5376672"/>
            <a:ext cx="237744" cy="237744"/>
          </a:xfrm>
          <a:prstGeom prst="ellipse">
            <a:avLst/>
          </a:prstGeom>
          <a:solidFill>
            <a:schemeClr val="accent2"/>
          </a:solidFill>
          <a:ln w="25400">
            <a:solidFill>
              <a:schemeClr val="bg1"/>
            </a:solidFill>
            <a:prstDash val="solid"/>
          </a:ln>
        </p:spPr>
      </p:sp>
      <p:sp>
        <p:nvSpPr>
          <p:cNvPr id="47" name="key Salesforce text"/>
          <p:cNvSpPr txBox="1"/>
          <p:nvPr/>
        </p:nvSpPr>
        <p:spPr>
          <a:xfrm>
            <a:off x="10725912" y="5367528"/>
            <a:ext cx="1280160" cy="256032"/>
          </a:xfrm>
          <a:prstGeom prst="rect">
            <a:avLst/>
          </a:prstGeom>
          <a:noFill/>
          <a:ln/>
        </p:spPr>
        <p:txBody>
          <a:bodyPr wrap="square" lIns="0" tIns="0" rIns="0" bIns="0" rtlCol="0" anchor="ctr"/>
          <a:lstStyle/>
          <a:p>
            <a:pPr indent="0" marL="0">
              <a:buNone/>
            </a:pPr>
            <a:r>
              <a:rPr lang="en-US" sz="1000" dirty="0">
                <a:solidFill>
                  <a:schemeClr val="tx1"/>
                </a:solidFill>
              </a:rPr>
              <a:t>Salesforce</a:t>
            </a:r>
            <a:endParaRPr lang="en-US" sz="1000" dirty="0"/>
          </a:p>
        </p:txBody>
      </p:sp>
      <p:sp>
        <p:nvSpPr>
          <p:cNvPr id="48" name="key Google"/>
          <p:cNvSpPr/>
          <p:nvPr/>
        </p:nvSpPr>
        <p:spPr>
          <a:xfrm>
            <a:off x="10396728" y="5705856"/>
            <a:ext cx="237744" cy="237744"/>
          </a:xfrm>
          <a:prstGeom prst="ellipse">
            <a:avLst/>
          </a:prstGeom>
          <a:solidFill>
            <a:schemeClr val="accent3"/>
          </a:solidFill>
          <a:ln w="25400">
            <a:solidFill>
              <a:schemeClr val="bg1"/>
            </a:solidFill>
            <a:prstDash val="solid"/>
          </a:ln>
        </p:spPr>
      </p:sp>
      <p:sp>
        <p:nvSpPr>
          <p:cNvPr id="49" name="key Google text"/>
          <p:cNvSpPr txBox="1"/>
          <p:nvPr/>
        </p:nvSpPr>
        <p:spPr>
          <a:xfrm>
            <a:off x="10725912" y="5696712"/>
            <a:ext cx="1280160" cy="256032"/>
          </a:xfrm>
          <a:prstGeom prst="rect">
            <a:avLst/>
          </a:prstGeom>
          <a:noFill/>
          <a:ln/>
        </p:spPr>
        <p:txBody>
          <a:bodyPr wrap="square" lIns="0" tIns="0" rIns="0" bIns="0" rtlCol="0" anchor="ctr"/>
          <a:lstStyle/>
          <a:p>
            <a:pPr indent="0" marL="0">
              <a:buNone/>
            </a:pPr>
            <a:r>
              <a:rPr lang="en-US" sz="1000" dirty="0">
                <a:solidFill>
                  <a:schemeClr val="tx1"/>
                </a:solidFill>
              </a:rPr>
              <a:t>Google</a:t>
            </a:r>
            <a:endParaRPr lang="en-US" sz="1000" dirty="0"/>
          </a:p>
        </p:txBody>
      </p:sp>
      <p:sp>
        <p:nvSpPr>
          <p:cNvPr id="50" name="key journey line"/>
          <p:cNvSpPr/>
          <p:nvPr/>
        </p:nvSpPr>
        <p:spPr>
          <a:xfrm>
            <a:off x="10396728" y="6153912"/>
            <a:ext cx="237744" cy="0"/>
          </a:xfrm>
          <a:prstGeom prst="line">
            <a:avLst/>
          </a:prstGeom>
          <a:noFill/>
          <a:ln w="63500">
            <a:solidFill>
              <a:schemeClr val="accent1"/>
            </a:solidFill>
            <a:prstDash val="solid"/>
          </a:ln>
        </p:spPr>
      </p:sp>
      <p:sp>
        <p:nvSpPr>
          <p:cNvPr id="51" name="key journey text"/>
          <p:cNvSpPr txBox="1"/>
          <p:nvPr/>
        </p:nvSpPr>
        <p:spPr>
          <a:xfrm>
            <a:off x="10725912" y="6025896"/>
            <a:ext cx="1280160" cy="256032"/>
          </a:xfrm>
          <a:prstGeom prst="rect">
            <a:avLst/>
          </a:prstGeom>
          <a:noFill/>
          <a:ln/>
        </p:spPr>
        <p:txBody>
          <a:bodyPr wrap="square" lIns="0" tIns="0" rIns="0" bIns="0" rtlCol="0" anchor="ctr"/>
          <a:lstStyle/>
          <a:p>
            <a:pPr indent="0" marL="0">
              <a:buNone/>
            </a:pPr>
            <a:r>
              <a:rPr lang="en-US" sz="1000" dirty="0">
                <a:solidFill>
                  <a:schemeClr val="tx1"/>
                </a:solidFill>
              </a:rPr>
              <a:t>Journey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Westerly Market">
  <a:themeElements>
    <a:clrScheme name="Westerly Market">
      <a:dk1>
        <a:srgbClr val="181818"/>
      </a:dk1>
      <a:lt1>
        <a:srgbClr val="FFFFFF"/>
      </a:lt1>
      <a:dk2>
        <a:srgbClr val="032D60"/>
      </a:dk2>
      <a:lt2>
        <a:srgbClr val="C9C9C9"/>
      </a:lt2>
      <a:accent1>
        <a:srgbClr val="0B827C"/>
      </a:accent1>
      <a:accent2>
        <a:srgbClr val="0176D3"/>
      </a:accent2>
      <a:accent3>
        <a:srgbClr val="BA5A00"/>
      </a:accent3>
      <a:accent4>
        <a:srgbClr val="5C5C5C"/>
      </a:accent4>
      <a:accent5>
        <a:srgbClr val="29B5E8"/>
      </a:accent5>
      <a:accent6>
        <a:srgbClr val="5A1BA9"/>
      </a:accent6>
      <a:hlink>
        <a:srgbClr val="0176D3"/>
      </a:hlink>
      <a:folHlink>
        <a:srgbClr val="5C5C5C"/>
      </a:folHlink>
    </a:clrScheme>
    <a:fontScheme name="Westerly Mark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Westerly Market architecture</dc:title>
  <dc:subject>PptxGenJS Presentation</dc:subject>
  <dc:creator>PptxGenJS</dc:creator>
  <cp:lastModifiedBy>PptxGenJS</cp:lastModifiedBy>
  <cp:revision>1</cp:revision>
  <dcterms:created xsi:type="dcterms:W3CDTF">2026-10-28T13:22:53Z</dcterms:created>
  <dcterms:modified xsi:type="dcterms:W3CDTF">2026-10-28T13:22:53Z</dcterms:modified>
</cp:coreProperties>
</file>